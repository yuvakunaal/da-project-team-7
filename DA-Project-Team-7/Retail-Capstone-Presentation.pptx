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409d419c4e7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409d419c4e7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409d419c4e7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409d419c4e7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409d419c4e7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409d419c4e7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409d419c4e7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409d419c4e7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409d419c4e7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409d419c4e7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409d419c4e7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409d419c4e7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95360" y="3657600"/>
            <a:ext cx="6217920" cy="6217920"/>
          </a:xfrm>
          <a:prstGeom prst="ellipse">
            <a:avLst/>
          </a:prstGeom>
          <a:solidFill>
            <a:srgbClr val="12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01200" y="4663440"/>
            <a:ext cx="4846320" cy="4846320"/>
          </a:xfrm>
          <a:prstGeom prst="ellipse">
            <a:avLst/>
          </a:prstGeom>
          <a:solidFill>
            <a:srgbClr val="1E2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543128" y="11860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 ENGINEERING CAPSTONE · SNOWFLAKE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3128" y="1597500"/>
            <a:ext cx="9601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Global Retail E-Commerce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3128" y="2310732"/>
            <a:ext cx="9601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Data Warehouse &amp; Analytics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3128" y="328914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 end-to-end Star Schema data warehouse — Full &amp; Incremental ETL, SCD Type 2 history tracking, PII masking, and SQL-validated data-quality controls — built entirely on Snowflake with Python analytics.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543128" y="4660740"/>
            <a:ext cx="4755000" cy="0"/>
          </a:xfrm>
          <a:prstGeom prst="straightConnector1">
            <a:avLst/>
          </a:prstGeom>
          <a:noFill/>
          <a:ln cap="flat" cmpd="sng" w="1587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/>
        </p:nvSpPr>
        <p:spPr>
          <a:xfrm>
            <a:off x="543128" y="48436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7  ·  DA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543128" y="4249285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SPRINT-BASED CAPSTONE  ·  SQL + SNOWPARK PYTHON + STREAMLIT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2838900" y="785825"/>
            <a:ext cx="57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3125" y="5163650"/>
            <a:ext cx="2592300" cy="1284600"/>
          </a:xfrm>
          <a:prstGeom prst="roundRect">
            <a:avLst>
              <a:gd fmla="val 16667" name="adj"/>
            </a:avLst>
          </a:prstGeom>
          <a:solidFill>
            <a:srgbClr val="1E293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638375" y="5213300"/>
            <a:ext cx="3000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Malaram Manjith Naidu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Boggavarapu Yuva Satya Kunaal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Pasupulati Sai Meghana 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Vaishnavi V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Jovitha Rajendran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BUSINESS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66928" y="169164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global retail e-commerce company needs a centralized Data Warehouse to reliably measure revenue, customer value, and product performance — instead of querying fragmented, inconsistent operational tables.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66928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22960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80968" y="2965216"/>
            <a:ext cx="342351" cy="342351"/>
          </a:xfrm>
          <a:prstGeom prst="can">
            <a:avLst>
              <a:gd fmla="val 25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822960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 the Warehouse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822960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 a Star Schema — conformed dimensions plus a single fact table capturing every order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86252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42284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800292" y="2965216"/>
            <a:ext cx="342351" cy="342351"/>
          </a:xfrm>
          <a:custGeom>
            <a:rect b="b" l="l" r="r" t="t"/>
            <a:pathLst>
              <a:path extrusionOk="0" h="120000" w="120000">
                <a:moveTo>
                  <a:pt x="85177" y="19133"/>
                </a:moveTo>
                <a:lnTo>
                  <a:pt x="94511" y="11300"/>
                </a:lnTo>
                <a:lnTo>
                  <a:pt x="101967" y="17557"/>
                </a:lnTo>
                <a:lnTo>
                  <a:pt x="95875" y="28109"/>
                </a:lnTo>
                <a:cubicBezTo>
                  <a:pt x="100207" y="32983"/>
                  <a:pt x="103501" y="38688"/>
                  <a:pt x="105555" y="44877"/>
                </a:cubicBezTo>
                <a:lnTo>
                  <a:pt x="117740" y="44877"/>
                </a:lnTo>
                <a:lnTo>
                  <a:pt x="119431" y="54463"/>
                </a:lnTo>
                <a:lnTo>
                  <a:pt x="107980" y="58630"/>
                </a:lnTo>
                <a:cubicBezTo>
                  <a:pt x="108167" y="65148"/>
                  <a:pt x="107023" y="71636"/>
                  <a:pt x="104618" y="77697"/>
                </a:cubicBezTo>
                <a:lnTo>
                  <a:pt x="113953" y="85530"/>
                </a:lnTo>
                <a:lnTo>
                  <a:pt x="109086" y="93960"/>
                </a:lnTo>
                <a:lnTo>
                  <a:pt x="97636" y="89792"/>
                </a:lnTo>
                <a:cubicBezTo>
                  <a:pt x="93588" y="94905"/>
                  <a:pt x="88542" y="99139"/>
                  <a:pt x="82804" y="102237"/>
                </a:cubicBezTo>
                <a:lnTo>
                  <a:pt x="84920" y="114237"/>
                </a:lnTo>
                <a:lnTo>
                  <a:pt x="75773" y="117566"/>
                </a:lnTo>
                <a:lnTo>
                  <a:pt x="69681" y="107014"/>
                </a:lnTo>
                <a:cubicBezTo>
                  <a:pt x="63294" y="108329"/>
                  <a:pt x="56706" y="108329"/>
                  <a:pt x="50319" y="107014"/>
                </a:cubicBezTo>
                <a:lnTo>
                  <a:pt x="44227" y="117566"/>
                </a:lnTo>
                <a:lnTo>
                  <a:pt x="35080" y="114237"/>
                </a:lnTo>
                <a:lnTo>
                  <a:pt x="37196" y="102237"/>
                </a:lnTo>
                <a:cubicBezTo>
                  <a:pt x="31458" y="99139"/>
                  <a:pt x="26412" y="94905"/>
                  <a:pt x="22364" y="89792"/>
                </a:cubicBezTo>
                <a:lnTo>
                  <a:pt x="10914" y="93960"/>
                </a:lnTo>
                <a:lnTo>
                  <a:pt x="6047" y="85530"/>
                </a:lnTo>
                <a:lnTo>
                  <a:pt x="15382" y="77697"/>
                </a:lnTo>
                <a:cubicBezTo>
                  <a:pt x="12977" y="71636"/>
                  <a:pt x="11833" y="65148"/>
                  <a:pt x="12020" y="58630"/>
                </a:cubicBezTo>
                <a:lnTo>
                  <a:pt x="569" y="54463"/>
                </a:lnTo>
                <a:lnTo>
                  <a:pt x="2260" y="44877"/>
                </a:lnTo>
                <a:lnTo>
                  <a:pt x="14445" y="44877"/>
                </a:lnTo>
                <a:cubicBezTo>
                  <a:pt x="16499" y="38688"/>
                  <a:pt x="19793" y="32983"/>
                  <a:pt x="24125" y="28109"/>
                </a:cubicBezTo>
                <a:lnTo>
                  <a:pt x="18033" y="17557"/>
                </a:lnTo>
                <a:lnTo>
                  <a:pt x="25489" y="11300"/>
                </a:lnTo>
                <a:lnTo>
                  <a:pt x="34823" y="19133"/>
                </a:lnTo>
                <a:cubicBezTo>
                  <a:pt x="40375" y="15712"/>
                  <a:pt x="46566" y="13459"/>
                  <a:pt x="53017" y="12511"/>
                </a:cubicBezTo>
                <a:lnTo>
                  <a:pt x="55133" y="511"/>
                </a:lnTo>
                <a:lnTo>
                  <a:pt x="64867" y="511"/>
                </a:lnTo>
                <a:lnTo>
                  <a:pt x="66983" y="12511"/>
                </a:lnTo>
                <a:cubicBezTo>
                  <a:pt x="73434" y="13459"/>
                  <a:pt x="79625" y="15712"/>
                  <a:pt x="85177" y="19133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3642284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Engineer the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642284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 Full and Incremental ETL in SQL, with SCD Type 2 history tracking on the customer dimension.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05576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461608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619616" y="2965216"/>
            <a:ext cx="342351" cy="342351"/>
          </a:xfrm>
          <a:prstGeom prst="octagon">
            <a:avLst>
              <a:gd fmla="val 29289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6461608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Govern the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6461608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Mask sensitive PII, validate every row against known data-quality issues, and log every rejection.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024899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280931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9438940" y="2965216"/>
            <a:ext cx="342351" cy="342351"/>
          </a:xfrm>
          <a:prstGeom prst="donut">
            <a:avLst>
              <a:gd fmla="val 25000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9280931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Deliver Insight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280931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and analyze in Python, then ship a live, interactive dashboard for revenue, segments, and geography.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566928" y="169164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→ STAGING → DW → ANALYTICS — every row is typed, cleaned, and reconciled before it reaches a chart.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66928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362799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566928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704088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source tables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VARCHAR, as-is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018206" y="384962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502838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298709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3502838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3639998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Cleaned + validated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rejects logged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954116" y="384962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438748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234618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6438748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6575908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 Schema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SCD2 + masking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890025" y="384962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9374657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0170528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9374657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ANALYTICS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9511817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 + 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SOURCE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Source Data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66928" y="1783080"/>
            <a:ext cx="6903720" cy="3429000"/>
          </a:xfrm>
          <a:prstGeom prst="roundRect">
            <a:avLst>
              <a:gd fmla="val 200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841248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2761488" y="2057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5870448" y="20574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841248" y="239572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 txBox="1"/>
          <p:nvPr/>
        </p:nvSpPr>
        <p:spPr>
          <a:xfrm>
            <a:off x="841248" y="2468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761488" y="2468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customers_merged.csv 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5870448" y="2468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244,000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841248" y="294436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 txBox="1"/>
          <p:nvPr/>
        </p:nvSpPr>
        <p:spPr>
          <a:xfrm>
            <a:off x="841248" y="3017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2761488" y="3017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products_merged.csv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5870448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15,000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841248" y="349300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 txBox="1"/>
          <p:nvPr/>
        </p:nvSpPr>
        <p:spPr>
          <a:xfrm>
            <a:off x="841248" y="35661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2761488" y="3566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orders_merged.csv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5870448" y="3566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205,000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6"/>
          <p:cNvCxnSpPr/>
          <p:nvPr/>
        </p:nvCxnSpPr>
        <p:spPr>
          <a:xfrm>
            <a:off x="841248" y="404164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6"/>
          <p:cNvSpPr txBox="1"/>
          <p:nvPr/>
        </p:nvSpPr>
        <p:spPr>
          <a:xfrm>
            <a:off x="841248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Items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2761488" y="4114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order_items_merged.csv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870448" y="4114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798,000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841248" y="459028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 txBox="1"/>
          <p:nvPr/>
        </p:nvSpPr>
        <p:spPr>
          <a:xfrm>
            <a:off x="841248" y="4663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2761488" y="4663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payments_merged.csv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870448" y="46634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138,000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7836408" y="1783080"/>
            <a:ext cx="37883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1.4M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7836408" y="2458941"/>
            <a:ext cx="37883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MERGED 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7836408" y="2834640"/>
            <a:ext cx="37883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34D399"/>
                </a:solidFill>
                <a:latin typeface="Cambria"/>
                <a:ea typeface="Cambria"/>
                <a:cs typeface="Cambria"/>
                <a:sym typeface="Cambria"/>
              </a:rPr>
              <a:t>1.2M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836408" y="3510501"/>
            <a:ext cx="37883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 RECORDS — 86%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7836408" y="3886200"/>
            <a:ext cx="37883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B7185"/>
                </a:solidFill>
                <a:latin typeface="Cambria"/>
                <a:ea typeface="Cambria"/>
                <a:cs typeface="Cambria"/>
                <a:sym typeface="Cambria"/>
              </a:rPr>
              <a:t>200K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7836408" y="4562061"/>
            <a:ext cx="37883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INTENTIONALLY IMPERFECT — 14%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7836408" y="5120640"/>
            <a:ext cx="378835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source file blends valid and deliberately flawed rows, reflecting realistic operational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 PROFILING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Quality Challenges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dataset includes six deliberately injected issue types, identified during profiling and handled during ETL.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66928" y="2148840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04672" y="2395728"/>
            <a:ext cx="118872" cy="118872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024128" y="2304288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Missing Values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804672" y="2724912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Blank or NULL fields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04672" y="3136392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B7185"/>
                </a:solidFill>
                <a:latin typeface="Courier New"/>
                <a:ea typeface="Courier New"/>
                <a:cs typeface="Courier New"/>
                <a:sym typeface="Courier New"/>
              </a:rPr>
              <a:t>city, email, name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319930" y="2148840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557674" y="2395728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777130" y="2304288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Negative Numbers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557674" y="2724912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Invalid amounts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4557674" y="3136392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quantity, unit_price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072933" y="2148840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310677" y="2395728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530133" y="2304288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8310677" y="2724912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Unrealistic timestamps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8310677" y="3136392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order_date, updated_at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66928" y="3831336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04672" y="4078224"/>
            <a:ext cx="118872" cy="1188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024128" y="3986784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Duplicate Keys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804672" y="4407408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Repeated identifiers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804672" y="4818888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customer_code, order_id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319930" y="3831336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557674" y="407822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4777130" y="3986784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Orphaned References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4557674" y="4407408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Broken foreign keys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4557674" y="4818888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__ORPHAN__ sentinel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072933" y="3831336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310677" y="4078224"/>
            <a:ext cx="118872" cy="11887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8530133" y="3986784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 Mismatches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8310677" y="4407408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Text in numeric fields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8310677" y="4818888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B923C"/>
                </a:solidFill>
                <a:latin typeface="Courier New"/>
                <a:ea typeface="Courier New"/>
                <a:cs typeface="Courier New"/>
                <a:sym typeface="Courier New"/>
              </a:rPr>
              <a:t>"FREE", "NOT_A_NUMBER"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STAGING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566928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Staging Layer — Flag, Don't Just Filter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566928" y="160020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row runs through a single CASE expression that assigns a specific rejection reason, or lets it through clean — nothing is silently dropped.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66928" y="2331720"/>
            <a:ext cx="11057839" cy="3977640"/>
          </a:xfrm>
          <a:prstGeom prst="roundRect">
            <a:avLst>
              <a:gd fmla="val 1724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68096" y="2157984"/>
            <a:ext cx="2403043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768096" y="2157984"/>
            <a:ext cx="2403043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04_full_load_staging.sql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0847527" y="249631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1048695" y="249631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1249863" y="249631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859536" y="2715768"/>
            <a:ext cx="10472623" cy="3374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TEMPORARY TABLE _customers_flagged 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SELECT *,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ROW_NUMBER() OVER (PARTITION BY customer_code ORDER BY updated_at) AS rn,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CASE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WHEN customer_code IS NULL THEN 'missing_customer_code'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WHEN city IS NULL OR TRIM(city) = '' THEN 'missing_city'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WHEN email IS NULL OR TRIM(email) = '' THEN 'missing_email'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WHEN phone IS NOT NULL AND NOT REGEXP_LIKE(phone,'.*[0-9].*')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THEN 'phone_type_mismatch'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WHEN TRY_TO_TIMESTAMP(updated_at) &gt; CURRENT_TIMESTAMP()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THEN 'future_updated_at'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 NULL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END AS reject_reason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RAW.CUSTOMERS_RAW;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STAGING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Cleaning Strategy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566928" y="1627632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repeatable four-step rule set is applied consistently to every one of the five source tables.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47378" y="2377365"/>
            <a:ext cx="2599800" cy="324600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585122" y="2578533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585122" y="3246045"/>
            <a:ext cx="214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585122" y="3675813"/>
            <a:ext cx="214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CASE expression checks every applicable issue type and records a specific reason, e.g. "negative_quantity".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020460" y="3904572"/>
            <a:ext cx="292500" cy="255900"/>
          </a:xfrm>
          <a:prstGeom prst="chevron">
            <a:avLst>
              <a:gd fmla="val 50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3386252" y="237744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3623996" y="257860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3623996" y="3246120"/>
            <a:ext cx="21426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Deduplicate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3623996" y="3675888"/>
            <a:ext cx="214266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ROW_NUMBER() partitions by business key; only the first issue-free occurrence survives as clean.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040984" y="3872484"/>
            <a:ext cx="292608" cy="256032"/>
          </a:xfrm>
          <a:prstGeom prst="chevron">
            <a:avLst>
              <a:gd fmla="val 50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400189" y="2377265"/>
            <a:ext cx="2599800" cy="324600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6637933" y="2578433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6637933" y="3245945"/>
            <a:ext cx="214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6637933" y="3675713"/>
            <a:ext cx="214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Issue-free, first-occurrence rows insert to *_CLEAN. Everything else inserts to *_ERRORS with its reason.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066657" y="3872484"/>
            <a:ext cx="292500" cy="255900"/>
          </a:xfrm>
          <a:prstGeom prst="chevron">
            <a:avLst>
              <a:gd fmla="val 50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9382724" y="2377315"/>
            <a:ext cx="2599800" cy="324600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9620468" y="2578483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9620468" y="3245995"/>
            <a:ext cx="214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Reconcile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9620468" y="3675763"/>
            <a:ext cx="214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STAGING counts are validated against the dataset's own ground-truth profiling summary.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DIMENSIONAL MODELLING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Star Schema Design —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66928" y="1874520"/>
            <a:ext cx="11057839" cy="777240"/>
          </a:xfrm>
          <a:prstGeom prst="roundRect">
            <a:avLst>
              <a:gd fmla="val 8824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66928" y="1874520"/>
            <a:ext cx="82296" cy="777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932688" y="196596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DIM_CUSTOMER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995928" y="1965960"/>
            <a:ext cx="730879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SCD Type 2 — surrogate key, full history preserved on city/email/phone change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66928" y="2816352"/>
            <a:ext cx="11057839" cy="777240"/>
          </a:xfrm>
          <a:prstGeom prst="roundRect">
            <a:avLst>
              <a:gd fmla="val 8824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566928" y="2816352"/>
            <a:ext cx="82296" cy="777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932688" y="2907792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DIM_PRODUCT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3995928" y="2907792"/>
            <a:ext cx="730879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 attributes, category, unit price — Type 1, simple overwrite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66928" y="3758184"/>
            <a:ext cx="11057839" cy="777240"/>
          </a:xfrm>
          <a:prstGeom prst="roundRect">
            <a:avLst>
              <a:gd fmla="val 8824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566928" y="3758184"/>
            <a:ext cx="82296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932688" y="3849624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DIM_DATE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3995928" y="3849624"/>
            <a:ext cx="730879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Calendar hierarchy — day, month, quarter, year, weekday flag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66928" y="4700016"/>
            <a:ext cx="11057839" cy="777240"/>
          </a:xfrm>
          <a:prstGeom prst="roundRect">
            <a:avLst>
              <a:gd fmla="val 8824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566928" y="4700016"/>
            <a:ext cx="82296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932688" y="4791456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DIM_LOCATION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3995928" y="4791456"/>
            <a:ext cx="730879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city / state combinations observed across orders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66928" y="5641848"/>
            <a:ext cx="11057839" cy="777240"/>
          </a:xfrm>
          <a:prstGeom prst="roundRect">
            <a:avLst>
              <a:gd fmla="val 8824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66928" y="5641848"/>
            <a:ext cx="82296" cy="7772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932688" y="5733288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FACT_SALES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3995928" y="5733288"/>
            <a:ext cx="730879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Grain: one row per order item — quantity, unit_price, line_amount, order_status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 txBox="1"/>
          <p:nvPr/>
        </p:nvSpPr>
        <p:spPr>
          <a:xfrm>
            <a:off x="566928" y="32537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DIMENSIONAL MODELLING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566928" y="504673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Star Schema Diagram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1" title="Sche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025" y="1434375"/>
            <a:ext cx="7923625" cy="48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DATA 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Fact Table Design — Grain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66928" y="1783080"/>
            <a:ext cx="4160520" cy="4526280"/>
          </a:xfrm>
          <a:prstGeom prst="roundRect">
            <a:avLst>
              <a:gd fmla="val 16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841248" y="201168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GRAIN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41248" y="2331720"/>
            <a:ext cx="3611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One row per order line item — the lowest granularity available in the source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841248" y="315468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ADDITIVE MEASURES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841248" y="3474720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quantity — units sold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unit_price — per-unit price at sale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line_amount — fully additive revenue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841248" y="46177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FOREIGN KEYS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841248" y="49377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customer_sk · product_sk · location_sk · date_sk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841248" y="525780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referencing every conformed dimension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047488" y="1783080"/>
            <a:ext cx="6577279" cy="4526280"/>
          </a:xfrm>
          <a:prstGeom prst="roundRect">
            <a:avLst>
              <a:gd fmla="val 1515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5248656" y="1609344"/>
            <a:ext cx="1477670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5248656" y="1609344"/>
            <a:ext cx="147767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05_dw_ddl.sql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0847527" y="194767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1048695" y="194767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11249863" y="194767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5340096" y="2167128"/>
            <a:ext cx="5992063" cy="3922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TABLE FACT_SALES 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order_item_id STRING,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order_id      STRING,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customer_sk   NUMBER,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product_sk    NUMBER,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location_sk   NUMBER,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date_sk       NUMBER,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quantity      NUMBER,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unit_price    NUMBER(18,2),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line_amount   NUMBER(18,2),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order_status  STRING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ETL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ETL — Full Load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STAGING is joined against every populated dimension to build FACT_SALES from scratch — the baseline used for initial warehouse population.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566928" y="2286000"/>
            <a:ext cx="11057839" cy="4023360"/>
          </a:xfrm>
          <a:prstGeom prst="roundRect">
            <a:avLst>
              <a:gd fmla="val 1705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768096" y="2112264"/>
            <a:ext cx="1477670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768096" y="2112264"/>
            <a:ext cx="147767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06_dw_dml.sql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847527" y="245059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1048695" y="245059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1249863" y="245059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859536" y="2670048"/>
            <a:ext cx="10472623" cy="3419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DW.FACT_SALES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oi.order_item_id, oi.order_id,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dc.customer_sk, dp.product_sk, dl.location_sk,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TO_NUMBER(TO_CHAR(o.order_date, 'YYYYMMDD')),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oi.quantity, oi.unit_price, oi.line_amount, o.status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STAGING.ORDER_ITEMS_CLEAN oi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JOIN STAGING.ORDERS_CLEAN o  ON oi.order_id = o.order_id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JOIN DW.DIM_CUSTOMER dc      ON o.customer_code = dc.customer_code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AND dc.is_current =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JOIN DW.DIM_PRODUCT dp       ON oi.product_code = dp.product_code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LEFT JOIN DW.DIM_LOCATION dl ON o.order_city = dl.city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AND o.order_state = dl.state;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HISTORICAL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SCD Type 2 Implementation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566928" y="1627632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a tracked attribute changes — city, email, or phone — the existing row is expired, never overwritten, and a fresh current row is inserted.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566928" y="2514600"/>
            <a:ext cx="4892040" cy="3063240"/>
          </a:xfrm>
          <a:prstGeom prst="roundRect">
            <a:avLst>
              <a:gd fmla="val 2239" name="adj"/>
            </a:avLst>
          </a:prstGeom>
          <a:solidFill>
            <a:srgbClr val="121C33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841248" y="277063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BEFORE — expired 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84124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customer_code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294436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C0009857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84124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294436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Mumbai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84124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is_current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294436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84124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eff_end_date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294436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2026-09-12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660136" y="391820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6144768" y="2514600"/>
            <a:ext cx="4892040" cy="3063240"/>
          </a:xfrm>
          <a:prstGeom prst="roundRect">
            <a:avLst>
              <a:gd fmla="val 2239" name="adj"/>
            </a:avLst>
          </a:prstGeom>
          <a:solidFill>
            <a:srgbClr val="121C33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6419088" y="277063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AFTER — new current 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641908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customer_code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852220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C0009857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641908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852220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Delhi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641908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is_current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852220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641908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eff_end_date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852220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566928" y="5833872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Both rows for C0009857 remain queryable — historical revenue attribution stays accurate to the customer's location at time of purchase.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SCD TYPE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SCD Type 2 — SQL Implementation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statements: expire the changed row, then insert whichever rows are new or were just expired.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566928" y="2240280"/>
            <a:ext cx="11057839" cy="4069080"/>
          </a:xfrm>
          <a:prstGeom prst="roundRect">
            <a:avLst>
              <a:gd fmla="val 1685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768096" y="2066544"/>
            <a:ext cx="2066544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768096" y="2066544"/>
            <a:ext cx="20665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07_scd2_customer.sql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0847527" y="240487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11048695" y="240487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11249863" y="240487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859536" y="2624328"/>
            <a:ext cx="10472623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ourier New"/>
              <a:buNone/>
            </a:pPr>
            <a:r>
              <a:rPr b="0" i="1" lang="en-US" sz="12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Step A: expire the OLD version if city/email/phone changed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UPDATE DW.DIM_CUSTOMER dc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SET eff_end_date = CURRENT_TIMESTAMP(), is_current = FALSE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STAGING.CUSTOMERS_CLEAN sc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dc.customer_code = sc.customer_code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AND dc.is_current =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AND (dc.city &lt;&gt; sc.city OR dc.email_masked &lt;&gt; ... 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ourier New"/>
              <a:buNone/>
            </a:pPr>
            <a:r>
              <a:rPr b="0" i="1" lang="en-US" sz="12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Step B: insert the NEW version as current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DW.DIM_CUSTOMER (..., eff_start_date, eff_end_date, is_current)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SELECT sc.*, CURRENT_TIMESTAMP(), NULL,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STAGING.CUSTOMERS_CLEAN sc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LEFT JOIN DW.DIM_CUSTOMER dc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ON sc.customer_code = dc.customer_code AND dc.is_current =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dc.customer_code IS NULL;  -- new, or just expired above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INCREMENTAL ETL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ETL — Incremental Load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566990" y="1366992"/>
            <a:ext cx="1105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LOAD_WATERMARKS table records the last successfully processed timestamp; only newer rows are extracted.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566928" y="2103120"/>
            <a:ext cx="11057839" cy="4251960"/>
          </a:xfrm>
          <a:prstGeom prst="roundRect">
            <a:avLst>
              <a:gd fmla="val 1613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768096" y="1929384"/>
            <a:ext cx="2318918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 txBox="1"/>
          <p:nvPr/>
        </p:nvSpPr>
        <p:spPr>
          <a:xfrm>
            <a:off x="768096" y="1929384"/>
            <a:ext cx="23189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08_incremental_load.sql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10847527" y="226771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11048695" y="226771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11249863" y="226771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 txBox="1"/>
          <p:nvPr/>
        </p:nvSpPr>
        <p:spPr>
          <a:xfrm>
            <a:off x="859536" y="2487168"/>
            <a:ext cx="10472623" cy="3648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TABLE LOAD_WATERMARKS 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table_name STRING, last_loaded_at TIMESTAMP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Only pull rows newer than the last successful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STAGING.ORDERS_CLEAN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SELECT order_id, customer_code, TRY_TO_TIMESTAMP(order_date),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status, order_city, order_state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RAW.ORDERS_RAW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customer_code &lt;&gt; '__ORPHAN__'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AND TRY_TO_TIMESTAMP(order_date) 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(SELECT last_loaded_at FROM LOAD_WATERMARKS WHERE table_name='ORDERS');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Advance the watermark after a successful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UPDATE LOAD_WATERMARKS SET last_loaded_at = CURRENT_TIMESTAMP()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table_name = 'ORDERS';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 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Masking &amp; Error Logging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566928" y="1783080"/>
            <a:ext cx="5346040" cy="4526280"/>
          </a:xfrm>
          <a:prstGeom prst="roundRect">
            <a:avLst>
              <a:gd fmla="val 1515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990478" y="2224918"/>
            <a:ext cx="323332" cy="323332"/>
          </a:xfrm>
          <a:prstGeom prst="octagon">
            <a:avLst>
              <a:gd fmla="val 29289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1618488" y="2167128"/>
            <a:ext cx="406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Sensitive Field Masking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841248" y="2880360"/>
            <a:ext cx="47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Applied at DW load time to every row in DIM_CUSTOMER.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841248" y="3474720"/>
            <a:ext cx="4797400" cy="548640"/>
          </a:xfrm>
          <a:prstGeom prst="roundRect">
            <a:avLst>
              <a:gd fmla="val 12500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 txBox="1"/>
          <p:nvPr/>
        </p:nvSpPr>
        <p:spPr>
          <a:xfrm>
            <a:off x="1024128" y="35844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priya.sharma@example.com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 txBox="1"/>
          <p:nvPr/>
        </p:nvSpPr>
        <p:spPr>
          <a:xfrm>
            <a:off x="3401568" y="35844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p***a@example.com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841248" y="4160520"/>
            <a:ext cx="4797400" cy="548640"/>
          </a:xfrm>
          <a:prstGeom prst="roundRect">
            <a:avLst>
              <a:gd fmla="val 12500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1024128" y="42702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+91 98765 43210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3401568" y="42702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***********3210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841248" y="4892040"/>
            <a:ext cx="479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email_masked and phone_masked replace raw values — unmasked data never leaves STAGING.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6278728" y="1783080"/>
            <a:ext cx="5346040" cy="4526280"/>
          </a:xfrm>
          <a:prstGeom prst="roundRect">
            <a:avLst>
              <a:gd fmla="val 1515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6553048" y="2075688"/>
            <a:ext cx="621792" cy="621792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6702278" y="2224918"/>
            <a:ext cx="323332" cy="323332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7330288" y="2167128"/>
            <a:ext cx="406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Structured Error Logging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6553048" y="2880360"/>
            <a:ext cx="47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rejected row is preserved — never dropped — with its exact reason.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6553048" y="367588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6781648" y="3566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6781648" y="38587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phone_type_mismatch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6553048" y="422452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6781648" y="4114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6781648" y="44074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orphan_customer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6553048" y="477316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 txBox="1"/>
          <p:nvPr/>
        </p:nvSpPr>
        <p:spPr>
          <a:xfrm>
            <a:off x="6781648" y="4663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ORDER_ITEMS_ERRORS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 txBox="1"/>
          <p:nvPr/>
        </p:nvSpPr>
        <p:spPr>
          <a:xfrm>
            <a:off x="6781648" y="49560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negative_quantity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6553048" y="532180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6781648" y="5212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PAYMENTS_ERRORS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6781648" y="55046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duplicate_payment_id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 txBox="1"/>
          <p:nvPr/>
        </p:nvSpPr>
        <p:spPr>
          <a:xfrm>
            <a:off x="566928" y="84124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Validation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Detection counts were checked against profiling_summary.json — the generator's own record of exactly how many bad rows were planted per 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18"/>
          <p:cNvPicPr preferRelativeResize="0"/>
          <p:nvPr/>
        </p:nvPicPr>
        <p:blipFill rotWithShape="1">
          <a:blip r:embed="rId3">
            <a:alphaModFix/>
          </a:blip>
          <a:srcRect b="0" l="50" r="40" t="0"/>
          <a:stretch/>
        </p:blipFill>
        <p:spPr>
          <a:xfrm>
            <a:off x="566928" y="2148840"/>
            <a:ext cx="6949500" cy="3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8"/>
          <p:cNvSpPr txBox="1"/>
          <p:nvPr/>
        </p:nvSpPr>
        <p:spPr>
          <a:xfrm>
            <a:off x="7882128" y="2194560"/>
            <a:ext cx="37426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4D399"/>
                </a:solidFill>
                <a:latin typeface="Cambria"/>
                <a:ea typeface="Cambria"/>
                <a:cs typeface="Cambria"/>
                <a:sym typeface="Cambria"/>
              </a:rPr>
              <a:t>3 / 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 txBox="1"/>
          <p:nvPr/>
        </p:nvSpPr>
        <p:spPr>
          <a:xfrm>
            <a:off x="7882128" y="2830664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TABLES AT EXACT 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7882128" y="3246120"/>
            <a:ext cx="37426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80.8%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7882128" y="3882224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CUSTOMER DETECTION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7882128" y="4297680"/>
            <a:ext cx="3742639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remaining customer gap is explained by time-decay: dates injected as "future" at dataset-generation time have since elapsed — not a logic error.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 txBox="1"/>
          <p:nvPr/>
        </p:nvSpPr>
        <p:spPr>
          <a:xfrm>
            <a:off x="566928" y="32537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 txBox="1"/>
          <p:nvPr/>
        </p:nvSpPr>
        <p:spPr>
          <a:xfrm>
            <a:off x="566928" y="32537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PYTHON ·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566928" y="561823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Data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19" title="python-data-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725" y="1339125"/>
            <a:ext cx="7905750" cy="496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"/>
          <p:cNvSpPr txBox="1"/>
          <p:nvPr/>
        </p:nvSpPr>
        <p:spPr>
          <a:xfrm>
            <a:off x="566928" y="3124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PYTHON · DATA 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 txBox="1"/>
          <p:nvPr/>
        </p:nvSpPr>
        <p:spPr>
          <a:xfrm>
            <a:off x="566928" y="662673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Data Visualization Charts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566928" y="2148840"/>
            <a:ext cx="11057700" cy="42519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0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20" title="pythoon-data-visual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1439975"/>
            <a:ext cx="11057700" cy="49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1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PYTHON · SNOWPARK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Analytics — Data Extraction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566928" y="160020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Snowpark pulls DW tables directly into pandas inside a Streamlit-in-Snowflake app — no external database driver or credentials required.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566928" y="2331720"/>
            <a:ext cx="11057839" cy="3977640"/>
          </a:xfrm>
          <a:prstGeom prst="roundRect">
            <a:avLst>
              <a:gd fmla="val 1724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768096" y="2157984"/>
            <a:ext cx="1730045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768096" y="2157984"/>
            <a:ext cx="173004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streamlit_app.py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10847527" y="249631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11048695" y="249631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11249863" y="249631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"/>
          <p:cNvSpPr txBox="1"/>
          <p:nvPr/>
        </p:nvSpPr>
        <p:spPr>
          <a:xfrm>
            <a:off x="859536" y="2715768"/>
            <a:ext cx="10472623" cy="3374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snowflake.snowpark.context import get_active_session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pd, altair as alt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session = get_active_session()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@st.cache_data(ttl=600)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def load_data():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fact_sales   = session.table("DW.FACT_SALES").to_pandas()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dim_customer = session.table("DW.DIM_CUSTOMER") \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.filter('"IS_CURRENT" = TRUE').to_pandas()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dim_product  = session.table("DW.DIM_PRODUCT").to_pandas()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dim_date     = session.table("DW.DIM_DATE").to_pandas()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fact_sales, dim_customer, dim_product, dim_date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Dashboard —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Streamlit-in-Snowflake app — filters update every KPI and chart in real time, no separate BI tool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566928" y="2148840"/>
            <a:ext cx="11057839" cy="425196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2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2148850"/>
            <a:ext cx="11057848" cy="42519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3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— All Five Chart Types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Line, bar, histogram, donut, and horizontal bar — each with live hover tooltips, rendered natively via Altair.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566928" y="2148840"/>
            <a:ext cx="11057839" cy="425196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5" name="Google Shape;4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2148850"/>
            <a:ext cx="11057848" cy="42519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4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Query Optimization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566928" y="1783080"/>
            <a:ext cx="4709160" cy="4526280"/>
          </a:xfrm>
          <a:prstGeom prst="roundRect">
            <a:avLst>
              <a:gd fmla="val 1515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841248" y="2057400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DW.FACT_SALES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CLUSTER BY (date_sk);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 txBox="1"/>
          <p:nvPr/>
        </p:nvSpPr>
        <p:spPr>
          <a:xfrm>
            <a:off x="841248" y="297180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 analytical queries filter or group by date — clustering lets Snowflake's micro-partition pruning skip irrelevant blocks instead of scanning the full table.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841248" y="41148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1.2s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 txBox="1"/>
          <p:nvPr/>
        </p:nvSpPr>
        <p:spPr>
          <a:xfrm>
            <a:off x="841248" y="454456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EXECUTION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2944368" y="41148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16.88 MB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 txBox="1"/>
          <p:nvPr/>
        </p:nvSpPr>
        <p:spPr>
          <a:xfrm>
            <a:off x="2944368" y="454456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BYTES SCANNED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 txBox="1"/>
          <p:nvPr/>
        </p:nvSpPr>
        <p:spPr>
          <a:xfrm>
            <a:off x="841248" y="5166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841248" y="55961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PARTITIONS SCANNED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 txBox="1"/>
          <p:nvPr/>
        </p:nvSpPr>
        <p:spPr>
          <a:xfrm>
            <a:off x="2944368" y="5166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 txBox="1"/>
          <p:nvPr/>
        </p:nvSpPr>
        <p:spPr>
          <a:xfrm>
            <a:off x="2944368" y="55961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INSIGHTS FLAGGED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5596128" y="1783080"/>
            <a:ext cx="6028639" cy="4526280"/>
          </a:xfrm>
          <a:prstGeom prst="roundRect">
            <a:avLst>
              <a:gd fmla="val 1515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4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125" y="1783075"/>
            <a:ext cx="6028649" cy="45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5"/>
          <p:cNvSpPr txBox="1"/>
          <p:nvPr/>
        </p:nvSpPr>
        <p:spPr>
          <a:xfrm>
            <a:off x="566928" y="54864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566928" y="914400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Real-World Use Cases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59441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658224" y="201146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100584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Retail &amp; e-commerce firms reuse this Star Schema to unify sales, customer, and product data for revenue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621477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6297072" y="201167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662620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Marketing teams use SCD Type 2 customer history for segmentation, loyalty programs, and churn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59441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676712" y="310895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100584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Finance &amp; compliance teams rely on PII masking and error logs to meet GDPR / DPDP data-privacy regulations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621477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6287872" y="310889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662620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Business analysts use the Streamlit-in-Snowflake dashboard as self-serve BI, replacing manual Excel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59441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676712" y="42062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 txBox="1"/>
          <p:nvPr/>
        </p:nvSpPr>
        <p:spPr>
          <a:xfrm>
            <a:off x="100584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Data engineering teams reuse the full + incremental ETL pattern to onboard new source systems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621477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6287872" y="42060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662620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Performance teams apply the same clustering &amp; query-profiling approach to control warehouse costs at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25"/>
          <p:cNvCxnSpPr/>
          <p:nvPr/>
        </p:nvCxnSpPr>
        <p:spPr>
          <a:xfrm>
            <a:off x="566928" y="571500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5"/>
          <p:cNvSpPr txBox="1"/>
          <p:nvPr/>
        </p:nvSpPr>
        <p:spPr>
          <a:xfrm>
            <a:off x="566928" y="5870448"/>
            <a:ext cx="1105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same pattern used here — star schema, SCD2, masking, watermark ETL — is exactly what production retail data platforms run today.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6"/>
          <p:cNvSpPr txBox="1"/>
          <p:nvPr/>
        </p:nvSpPr>
        <p:spPr>
          <a:xfrm>
            <a:off x="566928" y="54864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 txBox="1"/>
          <p:nvPr/>
        </p:nvSpPr>
        <p:spPr>
          <a:xfrm>
            <a:off x="566928" y="914400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This Approach Wins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59441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658224" y="201146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100584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Single source of truth — eliminates conflicting numbers from fragmented spreadsheets and siloed systems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621477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6"/>
          <p:cNvSpPr/>
          <p:nvPr/>
        </p:nvSpPr>
        <p:spPr>
          <a:xfrm>
            <a:off x="6297072" y="201167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662620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Trustworthy by design — every cleaning rule is validated against ground truth, not just assumed correct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59441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>
            <a:off x="676712" y="310895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100584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Full historical accuracy — SCD2 means no customer trend or attribution is ever lost to an overwrite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621477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6"/>
          <p:cNvSpPr/>
          <p:nvPr/>
        </p:nvSpPr>
        <p:spPr>
          <a:xfrm>
            <a:off x="6287872" y="310889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662620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Built-in governance — PII masking and per-row error logs make the pipeline audit-ready from day 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59441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/>
          <p:nvPr/>
        </p:nvSpPr>
        <p:spPr>
          <a:xfrm>
            <a:off x="676712" y="42062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6"/>
          <p:cNvSpPr txBox="1"/>
          <p:nvPr/>
        </p:nvSpPr>
        <p:spPr>
          <a:xfrm>
            <a:off x="100584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Faster decisions — live, filterable dashboards replace static reports with real-time answers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621477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6"/>
          <p:cNvSpPr/>
          <p:nvPr/>
        </p:nvSpPr>
        <p:spPr>
          <a:xfrm>
            <a:off x="6287872" y="42060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6"/>
          <p:cNvSpPr txBox="1"/>
          <p:nvPr/>
        </p:nvSpPr>
        <p:spPr>
          <a:xfrm>
            <a:off x="662620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Cloud-scale &amp; cost-efficient — clustering and query profiling cut scan time and compute spend as data grows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26"/>
          <p:cNvCxnSpPr/>
          <p:nvPr/>
        </p:nvCxnSpPr>
        <p:spPr>
          <a:xfrm>
            <a:off x="566928" y="571500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26"/>
          <p:cNvSpPr txBox="1"/>
          <p:nvPr/>
        </p:nvSpPr>
        <p:spPr>
          <a:xfrm>
            <a:off x="566928" y="5870448"/>
            <a:ext cx="1105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Together, these advantages turn a one-time capstone pipeline into a template for real production data platforms.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7"/>
          <p:cNvSpPr txBox="1"/>
          <p:nvPr/>
        </p:nvSpPr>
        <p:spPr>
          <a:xfrm>
            <a:off x="56692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 txBox="1"/>
          <p:nvPr/>
        </p:nvSpPr>
        <p:spPr>
          <a:xfrm>
            <a:off x="566928" y="91440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Production-Realistic Warehouse, Fully Validated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59441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658224" y="201146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1005840" y="193852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Star Schema with 4 dimensions + FACT_SALES, SCD Type 2 on DIM_CUSTOMER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621477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6297072" y="201167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7"/>
          <p:cNvSpPr txBox="1"/>
          <p:nvPr/>
        </p:nvSpPr>
        <p:spPr>
          <a:xfrm>
            <a:off x="6626200" y="193852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Full and Incremental ETL, both demonstrated with live watermark tracking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59441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676712" y="310895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7"/>
          <p:cNvSpPr txBox="1"/>
          <p:nvPr/>
        </p:nvSpPr>
        <p:spPr>
          <a:xfrm>
            <a:off x="1005840" y="303580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PII masking and structured, per-row error logging across every source 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621477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6287872" y="310889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7"/>
          <p:cNvSpPr txBox="1"/>
          <p:nvPr/>
        </p:nvSpPr>
        <p:spPr>
          <a:xfrm>
            <a:off x="6626200" y="303580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Data-quality detection validated against ground truth, not just assumed correct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59441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676712" y="42062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 txBox="1"/>
          <p:nvPr/>
        </p:nvSpPr>
        <p:spPr>
          <a:xfrm>
            <a:off x="1005840" y="413308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5 required chart types delivered as an interactive Streamlit-in-Snowflake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621477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6287872" y="42060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7"/>
          <p:cNvSpPr txBox="1"/>
          <p:nvPr/>
        </p:nvSpPr>
        <p:spPr>
          <a:xfrm>
            <a:off x="6626200" y="413308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Query optimization applied and measured via native Snowflake Query Profile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27"/>
          <p:cNvCxnSpPr/>
          <p:nvPr/>
        </p:nvCxnSpPr>
        <p:spPr>
          <a:xfrm>
            <a:off x="566928" y="5715000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27"/>
          <p:cNvSpPr txBox="1"/>
          <p:nvPr/>
        </p:nvSpPr>
        <p:spPr>
          <a:xfrm>
            <a:off x="566928" y="58704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pipeline generalizes directly to production: swap the CSV source for Snowpipe, and the STAGING → DW contract stays unchanged.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7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2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1E2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 txBox="1"/>
          <p:nvPr/>
        </p:nvSpPr>
        <p:spPr>
          <a:xfrm>
            <a:off x="566928" y="265176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566928" y="3520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Global Retail E-Commerce — Data Warehouse &amp; 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28"/>
          <p:cNvCxnSpPr/>
          <p:nvPr/>
        </p:nvCxnSpPr>
        <p:spPr>
          <a:xfrm>
            <a:off x="566928" y="4160520"/>
            <a:ext cx="3657600" cy="0"/>
          </a:xfrm>
          <a:prstGeom prst="straightConnector1">
            <a:avLst/>
          </a:prstGeom>
          <a:noFill/>
          <a:ln cap="flat" cmpd="sng" w="1587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5" name="Google Shape;595;p28"/>
          <p:cNvSpPr txBox="1"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 7  ·  DA PROJECT  ·  BUILT ON SNOWFLAKE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