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409d419c4e7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409d419c4e7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409d419c4e7_1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409d419c4e7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409d419c4e7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409d419c4e7_1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b528c3f4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fb528c3f4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g3fb528c3f4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409d419c4e7_1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409d419c4e7_1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409d419c4e7_1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409d419c4e7_1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409d419c4e7_1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409d419c4e7_1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595360" y="3657600"/>
            <a:ext cx="6217920" cy="6217920"/>
          </a:xfrm>
          <a:prstGeom prst="ellipse">
            <a:avLst/>
          </a:prstGeom>
          <a:solidFill>
            <a:srgbClr val="12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601200" y="4663440"/>
            <a:ext cx="4846320" cy="4846320"/>
          </a:xfrm>
          <a:prstGeom prst="ellipse">
            <a:avLst/>
          </a:prstGeom>
          <a:solidFill>
            <a:srgbClr val="1E2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543128" y="11860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DATA ENGINEERING CAPSTONE · SNOWFLAKE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543128" y="1597500"/>
            <a:ext cx="9601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Global Retail E-Commerce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543128" y="2310732"/>
            <a:ext cx="9601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38BDF8"/>
                </a:solidFill>
                <a:latin typeface="Cambria"/>
                <a:ea typeface="Cambria"/>
                <a:cs typeface="Cambria"/>
                <a:sym typeface="Cambria"/>
              </a:rPr>
              <a:t>Data Warehouse &amp; Analytics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543128" y="328914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 end-to-end Star Schema data warehouse — Full &amp; Incremental ETL, SCD Type 2 history tracking, PII masking, and SQL-validated data-quality controls — built entirely on Snowflake with Python analytics.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543128" y="4660740"/>
            <a:ext cx="4755000" cy="0"/>
          </a:xfrm>
          <a:prstGeom prst="straightConnector1">
            <a:avLst/>
          </a:prstGeom>
          <a:noFill/>
          <a:ln cap="flat" cmpd="sng" w="15875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 txBox="1"/>
          <p:nvPr/>
        </p:nvSpPr>
        <p:spPr>
          <a:xfrm>
            <a:off x="543128" y="484362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7  ·  DA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543128" y="4249285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SPRINT-BASED CAPSTONE  ·  SQL + SNOWPARK PYTHON + STREAMLIT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12838900" y="785825"/>
            <a:ext cx="572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543125" y="5163650"/>
            <a:ext cx="2592300" cy="1284600"/>
          </a:xfrm>
          <a:prstGeom prst="roundRect">
            <a:avLst>
              <a:gd fmla="val 16667" name="adj"/>
            </a:avLst>
          </a:prstGeom>
          <a:solidFill>
            <a:srgbClr val="1E293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638375" y="5213300"/>
            <a:ext cx="3000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Malaram Manjith Naidu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Boggavarapu Yuva Satya Kunaal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Pasupulati Sai Meghana 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Vaishnavi V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Jovitha Rajendran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BUSINESS SCENARIO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566928" y="84124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Project Objective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566928" y="1691640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global retail e-commerce company needs a centralized Data Warehouse to reliably measure revenue, customer value, and product performance — instead of querying fragmented, inconsistent operational tables.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66928" y="2514600"/>
            <a:ext cx="2599868" cy="3246120"/>
          </a:xfrm>
          <a:prstGeom prst="roundRect">
            <a:avLst>
              <a:gd fmla="val 263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822960" y="2807208"/>
            <a:ext cx="658368" cy="658368"/>
          </a:xfrm>
          <a:prstGeom prst="ellipse">
            <a:avLst/>
          </a:prstGeom>
          <a:solidFill>
            <a:srgbClr val="0B12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980968" y="2965216"/>
            <a:ext cx="342351" cy="342351"/>
          </a:xfrm>
          <a:prstGeom prst="can">
            <a:avLst>
              <a:gd fmla="val 25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822960" y="3630168"/>
            <a:ext cx="20878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Design the Warehouse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822960" y="4297680"/>
            <a:ext cx="208780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 a Star Schema — conformed dimensions plus a single fact table capturing every order line.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386252" y="2514600"/>
            <a:ext cx="2599868" cy="3246120"/>
          </a:xfrm>
          <a:prstGeom prst="roundRect">
            <a:avLst>
              <a:gd fmla="val 263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642284" y="2807208"/>
            <a:ext cx="658368" cy="658368"/>
          </a:xfrm>
          <a:prstGeom prst="ellipse">
            <a:avLst/>
          </a:prstGeom>
          <a:solidFill>
            <a:srgbClr val="0B12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800292" y="2965216"/>
            <a:ext cx="342351" cy="342351"/>
          </a:xfrm>
          <a:custGeom>
            <a:rect b="b" l="l" r="r" t="t"/>
            <a:pathLst>
              <a:path extrusionOk="0" h="120000" w="120000">
                <a:moveTo>
                  <a:pt x="85177" y="19133"/>
                </a:moveTo>
                <a:lnTo>
                  <a:pt x="94511" y="11300"/>
                </a:lnTo>
                <a:lnTo>
                  <a:pt x="101967" y="17557"/>
                </a:lnTo>
                <a:lnTo>
                  <a:pt x="95875" y="28109"/>
                </a:lnTo>
                <a:cubicBezTo>
                  <a:pt x="100207" y="32983"/>
                  <a:pt x="103501" y="38688"/>
                  <a:pt x="105555" y="44877"/>
                </a:cubicBezTo>
                <a:lnTo>
                  <a:pt x="117740" y="44877"/>
                </a:lnTo>
                <a:lnTo>
                  <a:pt x="119431" y="54463"/>
                </a:lnTo>
                <a:lnTo>
                  <a:pt x="107980" y="58630"/>
                </a:lnTo>
                <a:cubicBezTo>
                  <a:pt x="108167" y="65148"/>
                  <a:pt x="107023" y="71636"/>
                  <a:pt x="104618" y="77697"/>
                </a:cubicBezTo>
                <a:lnTo>
                  <a:pt x="113953" y="85530"/>
                </a:lnTo>
                <a:lnTo>
                  <a:pt x="109086" y="93960"/>
                </a:lnTo>
                <a:lnTo>
                  <a:pt x="97636" y="89792"/>
                </a:lnTo>
                <a:cubicBezTo>
                  <a:pt x="93588" y="94905"/>
                  <a:pt x="88542" y="99139"/>
                  <a:pt x="82804" y="102237"/>
                </a:cubicBezTo>
                <a:lnTo>
                  <a:pt x="84920" y="114237"/>
                </a:lnTo>
                <a:lnTo>
                  <a:pt x="75773" y="117566"/>
                </a:lnTo>
                <a:lnTo>
                  <a:pt x="69681" y="107014"/>
                </a:lnTo>
                <a:cubicBezTo>
                  <a:pt x="63294" y="108329"/>
                  <a:pt x="56706" y="108329"/>
                  <a:pt x="50319" y="107014"/>
                </a:cubicBezTo>
                <a:lnTo>
                  <a:pt x="44227" y="117566"/>
                </a:lnTo>
                <a:lnTo>
                  <a:pt x="35080" y="114237"/>
                </a:lnTo>
                <a:lnTo>
                  <a:pt x="37196" y="102237"/>
                </a:lnTo>
                <a:cubicBezTo>
                  <a:pt x="31458" y="99139"/>
                  <a:pt x="26412" y="94905"/>
                  <a:pt x="22364" y="89792"/>
                </a:cubicBezTo>
                <a:lnTo>
                  <a:pt x="10914" y="93960"/>
                </a:lnTo>
                <a:lnTo>
                  <a:pt x="6047" y="85530"/>
                </a:lnTo>
                <a:lnTo>
                  <a:pt x="15382" y="77697"/>
                </a:lnTo>
                <a:cubicBezTo>
                  <a:pt x="12977" y="71636"/>
                  <a:pt x="11833" y="65148"/>
                  <a:pt x="12020" y="58630"/>
                </a:cubicBezTo>
                <a:lnTo>
                  <a:pt x="569" y="54463"/>
                </a:lnTo>
                <a:lnTo>
                  <a:pt x="2260" y="44877"/>
                </a:lnTo>
                <a:lnTo>
                  <a:pt x="14445" y="44877"/>
                </a:lnTo>
                <a:cubicBezTo>
                  <a:pt x="16499" y="38688"/>
                  <a:pt x="19793" y="32983"/>
                  <a:pt x="24125" y="28109"/>
                </a:cubicBezTo>
                <a:lnTo>
                  <a:pt x="18033" y="17557"/>
                </a:lnTo>
                <a:lnTo>
                  <a:pt x="25489" y="11300"/>
                </a:lnTo>
                <a:lnTo>
                  <a:pt x="34823" y="19133"/>
                </a:lnTo>
                <a:cubicBezTo>
                  <a:pt x="40375" y="15712"/>
                  <a:pt x="46566" y="13459"/>
                  <a:pt x="53017" y="12511"/>
                </a:cubicBezTo>
                <a:lnTo>
                  <a:pt x="55133" y="511"/>
                </a:lnTo>
                <a:lnTo>
                  <a:pt x="64867" y="511"/>
                </a:lnTo>
                <a:lnTo>
                  <a:pt x="66983" y="12511"/>
                </a:lnTo>
                <a:cubicBezTo>
                  <a:pt x="73434" y="13459"/>
                  <a:pt x="79625" y="15712"/>
                  <a:pt x="85177" y="19133"/>
                </a:cubicBezTo>
                <a:close/>
              </a:path>
            </a:pathLst>
          </a:cu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3642284" y="3630168"/>
            <a:ext cx="20878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Engineer the Pipeline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3642284" y="4297680"/>
            <a:ext cx="208780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Build Full and Incremental ETL in SQL, with SCD Type 2 history tracking on the customer dimension.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205576" y="2514600"/>
            <a:ext cx="2599868" cy="3246120"/>
          </a:xfrm>
          <a:prstGeom prst="roundRect">
            <a:avLst>
              <a:gd fmla="val 263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461608" y="2807208"/>
            <a:ext cx="658368" cy="658368"/>
          </a:xfrm>
          <a:prstGeom prst="ellipse">
            <a:avLst/>
          </a:prstGeom>
          <a:solidFill>
            <a:srgbClr val="0B12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619616" y="2965216"/>
            <a:ext cx="342351" cy="342351"/>
          </a:xfrm>
          <a:prstGeom prst="octagon">
            <a:avLst>
              <a:gd fmla="val 29289" name="adj"/>
            </a:avLst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 txBox="1"/>
          <p:nvPr/>
        </p:nvSpPr>
        <p:spPr>
          <a:xfrm>
            <a:off x="6461608" y="3630168"/>
            <a:ext cx="20878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Govern the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6461608" y="4297680"/>
            <a:ext cx="208780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Mask sensitive PII, validate every row against known data-quality issues, and log every rejection.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024899" y="2514600"/>
            <a:ext cx="2599868" cy="3246120"/>
          </a:xfrm>
          <a:prstGeom prst="roundRect">
            <a:avLst>
              <a:gd fmla="val 263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9280931" y="2807208"/>
            <a:ext cx="658368" cy="658368"/>
          </a:xfrm>
          <a:prstGeom prst="ellipse">
            <a:avLst/>
          </a:prstGeom>
          <a:solidFill>
            <a:srgbClr val="0B12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9438940" y="2965216"/>
            <a:ext cx="342351" cy="342351"/>
          </a:xfrm>
          <a:prstGeom prst="donut">
            <a:avLst>
              <a:gd fmla="val 25000" name="adj"/>
            </a:avLst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 txBox="1"/>
          <p:nvPr/>
        </p:nvSpPr>
        <p:spPr>
          <a:xfrm>
            <a:off x="9280931" y="3630168"/>
            <a:ext cx="20878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Deliver Insight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9280931" y="4297680"/>
            <a:ext cx="208780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Query and analyze in Python, then ship a live, interactive dashboard for revenue, segments, and geography.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SYSTEM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566928" y="84124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Architecture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566928" y="1691640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RAW → STAGING → DW → ANALYTICS — every row is typed, cleaned, and reconciled before it reaches a chart.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66928" y="2651760"/>
            <a:ext cx="2250110" cy="2651760"/>
          </a:xfrm>
          <a:prstGeom prst="roundRect">
            <a:avLst>
              <a:gd fmla="val 304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1362799" y="2999232"/>
            <a:ext cx="658368" cy="658368"/>
          </a:xfrm>
          <a:prstGeom prst="can">
            <a:avLst>
              <a:gd fmla="val 25000" name="adj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566928" y="3822192"/>
            <a:ext cx="225011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RAW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704088" y="4279392"/>
            <a:ext cx="197579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source tables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VARCHAR, as-is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018206" y="3849624"/>
            <a:ext cx="292608" cy="256032"/>
          </a:xfrm>
          <a:prstGeom prst="chevron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502838" y="2651760"/>
            <a:ext cx="2250110" cy="2651760"/>
          </a:xfrm>
          <a:prstGeom prst="roundRect">
            <a:avLst>
              <a:gd fmla="val 304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298709" y="2999232"/>
            <a:ext cx="658368" cy="658368"/>
          </a:xfrm>
          <a:prstGeom prst="can">
            <a:avLst>
              <a:gd fmla="val 25000" name="adj"/>
            </a:avLst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3502838" y="3822192"/>
            <a:ext cx="225011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STAGING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3639998" y="4279392"/>
            <a:ext cx="197579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Cleaned + validated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rejects logged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954116" y="3849624"/>
            <a:ext cx="292608" cy="256032"/>
          </a:xfrm>
          <a:prstGeom prst="chevron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438748" y="2651760"/>
            <a:ext cx="2250110" cy="2651760"/>
          </a:xfrm>
          <a:prstGeom prst="roundRect">
            <a:avLst>
              <a:gd fmla="val 304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7234618" y="2999232"/>
            <a:ext cx="658368" cy="658368"/>
          </a:xfrm>
          <a:prstGeom prst="can">
            <a:avLst>
              <a:gd fmla="val 25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 txBox="1"/>
          <p:nvPr/>
        </p:nvSpPr>
        <p:spPr>
          <a:xfrm>
            <a:off x="6438748" y="3822192"/>
            <a:ext cx="225011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6575908" y="4279392"/>
            <a:ext cx="197579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Star Schema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SCD2 + masking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8890025" y="3849624"/>
            <a:ext cx="292608" cy="256032"/>
          </a:xfrm>
          <a:prstGeom prst="chevron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9374657" y="2651760"/>
            <a:ext cx="2250110" cy="2651760"/>
          </a:xfrm>
          <a:prstGeom prst="roundRect">
            <a:avLst>
              <a:gd fmla="val 304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10170528" y="2999232"/>
            <a:ext cx="658368" cy="658368"/>
          </a:xfrm>
          <a:prstGeom prst="can">
            <a:avLst>
              <a:gd fmla="val 25000" name="adj"/>
            </a:avLst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 txBox="1"/>
          <p:nvPr/>
        </p:nvSpPr>
        <p:spPr>
          <a:xfrm>
            <a:off x="9374657" y="3822192"/>
            <a:ext cx="225011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ANALYTICS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9511817" y="4279392"/>
            <a:ext cx="197579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SQL + Python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live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SOURCE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566928" y="84124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Source Data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66928" y="1783080"/>
            <a:ext cx="6903720" cy="3429000"/>
          </a:xfrm>
          <a:prstGeom prst="roundRect">
            <a:avLst>
              <a:gd fmla="val 2000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 txBox="1"/>
          <p:nvPr/>
        </p:nvSpPr>
        <p:spPr>
          <a:xfrm>
            <a:off x="841248" y="20574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ENTITY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2761488" y="20574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SOURCE FILE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5870448" y="205740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6"/>
          <p:cNvCxnSpPr/>
          <p:nvPr/>
        </p:nvCxnSpPr>
        <p:spPr>
          <a:xfrm>
            <a:off x="841248" y="2395728"/>
            <a:ext cx="6355080" cy="0"/>
          </a:xfrm>
          <a:prstGeom prst="straightConnector1">
            <a:avLst/>
          </a:prstGeom>
          <a:noFill/>
          <a:ln cap="flat" cmpd="sng" w="9525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6"/>
          <p:cNvSpPr txBox="1"/>
          <p:nvPr/>
        </p:nvSpPr>
        <p:spPr>
          <a:xfrm>
            <a:off x="841248" y="24688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2761488" y="24688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customers_merged.csv 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5870448" y="24688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244,000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6"/>
          <p:cNvCxnSpPr/>
          <p:nvPr/>
        </p:nvCxnSpPr>
        <p:spPr>
          <a:xfrm>
            <a:off x="841248" y="2944368"/>
            <a:ext cx="6355080" cy="0"/>
          </a:xfrm>
          <a:prstGeom prst="straightConnector1">
            <a:avLst/>
          </a:prstGeom>
          <a:noFill/>
          <a:ln cap="flat" cmpd="sng" w="9525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6"/>
          <p:cNvSpPr txBox="1"/>
          <p:nvPr/>
        </p:nvSpPr>
        <p:spPr>
          <a:xfrm>
            <a:off x="841248" y="3017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2761488" y="30175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products_merged.csv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5870448" y="3017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15,000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6"/>
          <p:cNvCxnSpPr/>
          <p:nvPr/>
        </p:nvCxnSpPr>
        <p:spPr>
          <a:xfrm>
            <a:off x="841248" y="3493008"/>
            <a:ext cx="6355080" cy="0"/>
          </a:xfrm>
          <a:prstGeom prst="straightConnector1">
            <a:avLst/>
          </a:prstGeom>
          <a:noFill/>
          <a:ln cap="flat" cmpd="sng" w="9525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6"/>
          <p:cNvSpPr txBox="1"/>
          <p:nvPr/>
        </p:nvSpPr>
        <p:spPr>
          <a:xfrm>
            <a:off x="841248" y="35661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2761488" y="35661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orders_merged.csv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5870448" y="35661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205,000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6"/>
          <p:cNvCxnSpPr/>
          <p:nvPr/>
        </p:nvCxnSpPr>
        <p:spPr>
          <a:xfrm>
            <a:off x="841248" y="4041648"/>
            <a:ext cx="6355080" cy="0"/>
          </a:xfrm>
          <a:prstGeom prst="straightConnector1">
            <a:avLst/>
          </a:prstGeom>
          <a:noFill/>
          <a:ln cap="flat" cmpd="sng" w="9525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6"/>
          <p:cNvSpPr txBox="1"/>
          <p:nvPr/>
        </p:nvSpPr>
        <p:spPr>
          <a:xfrm>
            <a:off x="841248" y="41148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 Items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2761488" y="41148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order_items_merged.csv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5870448" y="41148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798,000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6"/>
          <p:cNvCxnSpPr/>
          <p:nvPr/>
        </p:nvCxnSpPr>
        <p:spPr>
          <a:xfrm>
            <a:off x="841248" y="4590288"/>
            <a:ext cx="6355080" cy="0"/>
          </a:xfrm>
          <a:prstGeom prst="straightConnector1">
            <a:avLst/>
          </a:prstGeom>
          <a:noFill/>
          <a:ln cap="flat" cmpd="sng" w="9525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6"/>
          <p:cNvSpPr txBox="1"/>
          <p:nvPr/>
        </p:nvSpPr>
        <p:spPr>
          <a:xfrm>
            <a:off x="841248" y="46634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Payments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2761488" y="46634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payments_merged.csv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5870448" y="46634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138,000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7836408" y="1783080"/>
            <a:ext cx="378835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1.4M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7836408" y="2458941"/>
            <a:ext cx="378835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MERGED ROWS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7836408" y="2834640"/>
            <a:ext cx="378835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34D399"/>
                </a:solidFill>
                <a:latin typeface="Cambria"/>
                <a:ea typeface="Cambria"/>
                <a:cs typeface="Cambria"/>
                <a:sym typeface="Cambria"/>
              </a:rPr>
              <a:t>1.2M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7836408" y="3510501"/>
            <a:ext cx="378835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CLEAN RECORDS — 86%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7836408" y="3886200"/>
            <a:ext cx="378835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B7185"/>
                </a:solidFill>
                <a:latin typeface="Cambria"/>
                <a:ea typeface="Cambria"/>
                <a:cs typeface="Cambria"/>
                <a:sym typeface="Cambria"/>
              </a:rPr>
              <a:t>200K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7836408" y="4562061"/>
            <a:ext cx="378835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INTENTIONALLY IMPERFECT — 14%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7836408" y="5120640"/>
            <a:ext cx="378835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source file blends valid and deliberately flawed rows, reflecting realistic operational data.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DATA PROFILING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566928" y="84124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Quality Challenges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Each dataset includes six deliberately injected issue types, identified during profiling and handled during ETL.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66928" y="2148840"/>
            <a:ext cx="3551834" cy="1481328"/>
          </a:xfrm>
          <a:prstGeom prst="roundRect">
            <a:avLst>
              <a:gd fmla="val 4630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804672" y="2395728"/>
            <a:ext cx="118872" cy="118872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 txBox="1"/>
          <p:nvPr/>
        </p:nvSpPr>
        <p:spPr>
          <a:xfrm>
            <a:off x="1024128" y="2304288"/>
            <a:ext cx="291175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Missing Values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804672" y="2724912"/>
            <a:ext cx="30946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Blank or NULL fields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804672" y="3136392"/>
            <a:ext cx="309463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FB7185"/>
                </a:solidFill>
                <a:latin typeface="Courier New"/>
                <a:ea typeface="Courier New"/>
                <a:cs typeface="Courier New"/>
                <a:sym typeface="Courier New"/>
              </a:rPr>
              <a:t>city, email, name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319930" y="2148840"/>
            <a:ext cx="3551834" cy="1481328"/>
          </a:xfrm>
          <a:prstGeom prst="roundRect">
            <a:avLst>
              <a:gd fmla="val 4630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4557674" y="2395728"/>
            <a:ext cx="118872" cy="1188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4777130" y="2304288"/>
            <a:ext cx="291175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Negative Numbers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4557674" y="2724912"/>
            <a:ext cx="30946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Invalid amounts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4557674" y="3136392"/>
            <a:ext cx="309463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quantity, unit_price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8072933" y="2148840"/>
            <a:ext cx="3551834" cy="1481328"/>
          </a:xfrm>
          <a:prstGeom prst="roundRect">
            <a:avLst>
              <a:gd fmla="val 4630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8310677" y="2395728"/>
            <a:ext cx="118872" cy="11887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8530133" y="2304288"/>
            <a:ext cx="291175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Future Dates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8310677" y="2724912"/>
            <a:ext cx="30946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Unrealistic timestamps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8310677" y="3136392"/>
            <a:ext cx="309463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A78BFA"/>
                </a:solidFill>
                <a:latin typeface="Courier New"/>
                <a:ea typeface="Courier New"/>
                <a:cs typeface="Courier New"/>
                <a:sym typeface="Courier New"/>
              </a:rPr>
              <a:t>order_date, updated_at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66928" y="3831336"/>
            <a:ext cx="3551834" cy="1481328"/>
          </a:xfrm>
          <a:prstGeom prst="roundRect">
            <a:avLst>
              <a:gd fmla="val 4630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804672" y="4078224"/>
            <a:ext cx="118872" cy="1188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1024128" y="3986784"/>
            <a:ext cx="291175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Duplicate Keys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804672" y="4407408"/>
            <a:ext cx="30946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Repeated identifiers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804672" y="4818888"/>
            <a:ext cx="309463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customer_code, order_id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319930" y="3831336"/>
            <a:ext cx="3551834" cy="1481328"/>
          </a:xfrm>
          <a:prstGeom prst="roundRect">
            <a:avLst>
              <a:gd fmla="val 4630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557674" y="4078224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 txBox="1"/>
          <p:nvPr/>
        </p:nvSpPr>
        <p:spPr>
          <a:xfrm>
            <a:off x="4777130" y="3986784"/>
            <a:ext cx="291175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Orphaned References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4557674" y="4407408"/>
            <a:ext cx="30946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Broken foreign keys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4557674" y="4818888"/>
            <a:ext cx="309463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__ORPHAN__ sentinel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072933" y="3831336"/>
            <a:ext cx="3551834" cy="1481328"/>
          </a:xfrm>
          <a:prstGeom prst="roundRect">
            <a:avLst>
              <a:gd fmla="val 4630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8310677" y="4078224"/>
            <a:ext cx="118872" cy="11887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 txBox="1"/>
          <p:nvPr/>
        </p:nvSpPr>
        <p:spPr>
          <a:xfrm>
            <a:off x="8530133" y="3986784"/>
            <a:ext cx="291175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Type Mismatches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8310677" y="4407408"/>
            <a:ext cx="30946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Text in numeric fields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8310677" y="4818888"/>
            <a:ext cx="309463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FB923C"/>
                </a:solidFill>
                <a:latin typeface="Courier New"/>
                <a:ea typeface="Courier New"/>
                <a:cs typeface="Courier New"/>
                <a:sym typeface="Courier New"/>
              </a:rPr>
              <a:t>"FREE", "NOT_A_NUMBER"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STAGING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566928" y="84124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Cleaning Strategy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566928" y="1627632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repeatable four-step rule set is applied consistently to every one of the five source tables.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47378" y="2377365"/>
            <a:ext cx="2599800" cy="3246000"/>
          </a:xfrm>
          <a:prstGeom prst="roundRect">
            <a:avLst>
              <a:gd fmla="val 263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585122" y="2578533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38BDF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585122" y="3246045"/>
            <a:ext cx="214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Flag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585122" y="3675813"/>
            <a:ext cx="2142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CASE expression checks every applicable issue type and records a specific reason, e.g. "negative_quantity".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020460" y="3904572"/>
            <a:ext cx="292500" cy="255900"/>
          </a:xfrm>
          <a:prstGeom prst="chevron">
            <a:avLst>
              <a:gd fmla="val 50000" name="adj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3386252" y="2377440"/>
            <a:ext cx="2599868" cy="3246120"/>
          </a:xfrm>
          <a:prstGeom prst="roundRect">
            <a:avLst>
              <a:gd fmla="val 263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 txBox="1"/>
          <p:nvPr/>
        </p:nvSpPr>
        <p:spPr>
          <a:xfrm>
            <a:off x="3623996" y="2578608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38BDF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3623996" y="3246120"/>
            <a:ext cx="21426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Deduplicate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3623996" y="3675888"/>
            <a:ext cx="214266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ROW_NUMBER() partitions by business key; only the first issue-free occurrence survives as clean.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040984" y="3872484"/>
            <a:ext cx="292608" cy="256032"/>
          </a:xfrm>
          <a:prstGeom prst="chevron">
            <a:avLst>
              <a:gd fmla="val 50000" name="adj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6400189" y="2377265"/>
            <a:ext cx="2599800" cy="3246000"/>
          </a:xfrm>
          <a:prstGeom prst="roundRect">
            <a:avLst>
              <a:gd fmla="val 263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6637933" y="2578433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38BDF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6637933" y="3245945"/>
            <a:ext cx="214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Split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6637933" y="3675713"/>
            <a:ext cx="2142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Issue-free, first-occurrence rows insert to *_CLEAN. Everything else inserts to *_ERRORS with its reason.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9066657" y="3872484"/>
            <a:ext cx="292500" cy="255900"/>
          </a:xfrm>
          <a:prstGeom prst="chevron">
            <a:avLst>
              <a:gd fmla="val 50000" name="adj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9382724" y="2377315"/>
            <a:ext cx="2599800" cy="3246000"/>
          </a:xfrm>
          <a:prstGeom prst="roundRect">
            <a:avLst>
              <a:gd fmla="val 2638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 txBox="1"/>
          <p:nvPr/>
        </p:nvSpPr>
        <p:spPr>
          <a:xfrm>
            <a:off x="9620468" y="2578483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38BDF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9620468" y="3245995"/>
            <a:ext cx="214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Reconcile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9620468" y="3675763"/>
            <a:ext cx="2142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STAGING counts are validated against the dataset's own ground-truth profiling summary.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11323015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/>
          <p:nvPr/>
        </p:nvSpPr>
        <p:spPr>
          <a:xfrm>
            <a:off x="566928" y="32537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DIMENSIONAL MODELLING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566928" y="504673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Star Schema Diagram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9" title="Schem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4025" y="1434375"/>
            <a:ext cx="7923625" cy="485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HISTORICAL TRACKING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566928" y="84124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SCD Type 2 Implementation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566928" y="1627632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When a tracked attribute changes — city, email, or phone — the existing row is expired, never overwritten, and a fresh current row is inserted.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566928" y="2514600"/>
            <a:ext cx="4892040" cy="3063240"/>
          </a:xfrm>
          <a:prstGeom prst="roundRect">
            <a:avLst>
              <a:gd fmla="val 2239" name="adj"/>
            </a:avLst>
          </a:prstGeom>
          <a:solidFill>
            <a:srgbClr val="121C33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 txBox="1"/>
          <p:nvPr/>
        </p:nvSpPr>
        <p:spPr>
          <a:xfrm>
            <a:off x="841248" y="2770632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7185"/>
                </a:solidFill>
                <a:latin typeface="Calibri"/>
                <a:ea typeface="Calibri"/>
                <a:cs typeface="Calibri"/>
                <a:sym typeface="Calibri"/>
              </a:rPr>
              <a:t>BEFORE — expired row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841248" y="3337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customer_code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2944368" y="3337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C0009857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841248" y="382219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city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2944368" y="382219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Mumbai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841248" y="43068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is_current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2944368" y="43068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841248" y="4791456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eff_end_date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2944368" y="4791456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2026-09-12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5660136" y="3918204"/>
            <a:ext cx="292608" cy="256032"/>
          </a:xfrm>
          <a:prstGeom prst="chevron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6144768" y="2514600"/>
            <a:ext cx="4892040" cy="3063240"/>
          </a:xfrm>
          <a:prstGeom prst="roundRect">
            <a:avLst>
              <a:gd fmla="val 2239" name="adj"/>
            </a:avLst>
          </a:prstGeom>
          <a:solidFill>
            <a:srgbClr val="121C33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 txBox="1"/>
          <p:nvPr/>
        </p:nvSpPr>
        <p:spPr>
          <a:xfrm>
            <a:off x="6419088" y="2770632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AFTER — new current row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6419088" y="3337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customer_code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8522208" y="3337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C0009857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6419088" y="382219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city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8522208" y="382219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Delhi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6419088" y="43068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is_current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8522208" y="43068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6419088" y="4791456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eff_end_date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 txBox="1"/>
          <p:nvPr/>
        </p:nvSpPr>
        <p:spPr>
          <a:xfrm>
            <a:off x="8522208" y="4791456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 txBox="1"/>
          <p:nvPr/>
        </p:nvSpPr>
        <p:spPr>
          <a:xfrm>
            <a:off x="566928" y="5833872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Both rows for C0009857 remain queryable — historical revenue attribution stays accurate to the customer's location at time of purchase.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SQL · SCD TYPE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566928" y="84124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SCD Type 2 — SQL Implementation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Two statements: expire the changed row, then insert whichever rows are new or were just expired.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66928" y="2240280"/>
            <a:ext cx="11057839" cy="4069080"/>
          </a:xfrm>
          <a:prstGeom prst="roundRect">
            <a:avLst>
              <a:gd fmla="val 1685" name="adj"/>
            </a:avLst>
          </a:prstGeom>
          <a:solidFill>
            <a:srgbClr val="0A10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768096" y="2066544"/>
            <a:ext cx="2066544" cy="347472"/>
          </a:xfrm>
          <a:prstGeom prst="roundRect">
            <a:avLst>
              <a:gd fmla="val 15789" name="adj"/>
            </a:avLst>
          </a:prstGeom>
          <a:solidFill>
            <a:srgbClr val="1E293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 txBox="1"/>
          <p:nvPr/>
        </p:nvSpPr>
        <p:spPr>
          <a:xfrm>
            <a:off x="768096" y="2066544"/>
            <a:ext cx="20665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07_scd2_customer.sql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10847527" y="2404872"/>
            <a:ext cx="100584" cy="100584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11048695" y="2404872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11249863" y="2404872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 txBox="1"/>
          <p:nvPr/>
        </p:nvSpPr>
        <p:spPr>
          <a:xfrm>
            <a:off x="859536" y="2624328"/>
            <a:ext cx="10472623" cy="3465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50"/>
              <a:buFont typeface="Courier New"/>
              <a:buNone/>
            </a:pPr>
            <a:r>
              <a:rPr b="0" i="1" lang="en-US" sz="125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-- Step A: expire the OLD version if city/email/phone changed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UPDATE DW.DIM_CUSTOMER dc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SET eff_end_date = CURRENT_TIMESTAMP(), is_current = FALSE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FROM STAGING.CUSTOMERS_CLEAN sc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WHERE dc.customer_code = sc.customer_code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AND dc.is_current = TRUE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AND (dc.city &lt;&gt; sc.city OR dc.email_masked &lt;&gt; ... );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50"/>
              <a:buFont typeface="Courier New"/>
              <a:buNone/>
            </a:pPr>
            <a:r>
              <a:rPr b="0" i="1" lang="en-US" sz="125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-- Step B: insert the NEW version as current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DW.DIM_CUSTOMER (..., eff_start_date, eff_end_date, is_current)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SELECT sc.*, CURRENT_TIMESTAMP(), NULL, TRUE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FROM STAGING.CUSTOMERS_CLEAN sc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LEFT JOIN DW.DIM_CUSTOMER dc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ON sc.customer_code = dc.customer_code AND dc.is_current = TRUE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WHERE dc.customer_code IS NULL;  -- new, or just expired above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SQL · INCREMENTAL ETL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566928" y="84124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ETL — Incremental Load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566990" y="1366992"/>
            <a:ext cx="1105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LOAD_WATERMARKS table records the last successfully processed timestamp; only newer rows are extracted.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566928" y="2103120"/>
            <a:ext cx="11057839" cy="4251960"/>
          </a:xfrm>
          <a:prstGeom prst="roundRect">
            <a:avLst>
              <a:gd fmla="val 1613" name="adj"/>
            </a:avLst>
          </a:prstGeom>
          <a:solidFill>
            <a:srgbClr val="0A10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768096" y="1929384"/>
            <a:ext cx="2318918" cy="347472"/>
          </a:xfrm>
          <a:prstGeom prst="roundRect">
            <a:avLst>
              <a:gd fmla="val 15789" name="adj"/>
            </a:avLst>
          </a:prstGeom>
          <a:solidFill>
            <a:srgbClr val="1E293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 txBox="1"/>
          <p:nvPr/>
        </p:nvSpPr>
        <p:spPr>
          <a:xfrm>
            <a:off x="768096" y="1929384"/>
            <a:ext cx="231891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08_incremental_load.sql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10847527" y="2267712"/>
            <a:ext cx="100584" cy="100584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11048695" y="2267712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11249863" y="2267712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 txBox="1"/>
          <p:nvPr/>
        </p:nvSpPr>
        <p:spPr>
          <a:xfrm>
            <a:off x="859536" y="2487168"/>
            <a:ext cx="10472623" cy="3648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CREATE OR REPLACE TABLE LOAD_WATERMARKS (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table_name STRING, last_loaded_at TIMESTAMP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50"/>
              <a:buFont typeface="Courier New"/>
              <a:buNone/>
            </a:pPr>
            <a:r>
              <a:rPr b="0" i="1" lang="en-US" sz="115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-- Only pull rows newer than the last successful run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STAGING.ORDERS_CLEAN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SELECT order_id, customer_code, TRY_TO_TIMESTAMP(order_date),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   status, order_city, order_state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FROM RAW.ORDERS_RAW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WHERE customer_code &lt;&gt; '__ORPHAN__'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AND TRY_TO_TIMESTAMP(order_date) &gt;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      (SELECT last_loaded_at FROM LOAD_WATERMARKS WHERE table_name='ORDERS');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50"/>
              <a:buFont typeface="Courier New"/>
              <a:buNone/>
            </a:pPr>
            <a:r>
              <a:rPr b="0" i="1" lang="en-US" sz="115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-- Advance the watermark after a successful run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UPDATE LOAD_WATERMARKS SET last_loaded_at = CURRENT_TIMESTAMP()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7ECF6"/>
                </a:solidFill>
                <a:latin typeface="Courier New"/>
                <a:ea typeface="Courier New"/>
                <a:cs typeface="Courier New"/>
                <a:sym typeface="Courier New"/>
              </a:rPr>
              <a:t>WHERE table_name = 'ORDERS';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DATA GOVERNANCE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 txBox="1"/>
          <p:nvPr/>
        </p:nvSpPr>
        <p:spPr>
          <a:xfrm>
            <a:off x="566928" y="84124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Masking &amp; Error Logging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66928" y="1783080"/>
            <a:ext cx="5346040" cy="4526280"/>
          </a:xfrm>
          <a:prstGeom prst="roundRect">
            <a:avLst>
              <a:gd fmla="val 1515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841248" y="2075688"/>
            <a:ext cx="621792" cy="621792"/>
          </a:xfrm>
          <a:prstGeom prst="ellipse">
            <a:avLst/>
          </a:prstGeom>
          <a:solidFill>
            <a:srgbClr val="0B12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990478" y="2224918"/>
            <a:ext cx="323332" cy="323332"/>
          </a:xfrm>
          <a:prstGeom prst="octagon">
            <a:avLst>
              <a:gd fmla="val 29289" name="adj"/>
            </a:avLst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 txBox="1"/>
          <p:nvPr/>
        </p:nvSpPr>
        <p:spPr>
          <a:xfrm>
            <a:off x="1618488" y="2167128"/>
            <a:ext cx="406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Sensitive Field Masking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841248" y="2880360"/>
            <a:ext cx="47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Applied at DW load time to every row in DIM_CUSTOMER.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841248" y="3474720"/>
            <a:ext cx="4797400" cy="548640"/>
          </a:xfrm>
          <a:prstGeom prst="roundRect">
            <a:avLst>
              <a:gd fmla="val 12500" name="adj"/>
            </a:avLst>
          </a:prstGeom>
          <a:solidFill>
            <a:srgbClr val="1E293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 txBox="1"/>
          <p:nvPr/>
        </p:nvSpPr>
        <p:spPr>
          <a:xfrm>
            <a:off x="1024128" y="358444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6B7A99"/>
                </a:solidFill>
                <a:latin typeface="Courier New"/>
                <a:ea typeface="Courier New"/>
                <a:cs typeface="Courier New"/>
                <a:sym typeface="Courier New"/>
              </a:rPr>
              <a:t>priya.sharma@example.com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 txBox="1"/>
          <p:nvPr/>
        </p:nvSpPr>
        <p:spPr>
          <a:xfrm>
            <a:off x="3401568" y="358444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p***a@example.com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841248" y="4160520"/>
            <a:ext cx="4797400" cy="548640"/>
          </a:xfrm>
          <a:prstGeom prst="roundRect">
            <a:avLst>
              <a:gd fmla="val 12500" name="adj"/>
            </a:avLst>
          </a:prstGeom>
          <a:solidFill>
            <a:srgbClr val="1E293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 txBox="1"/>
          <p:nvPr/>
        </p:nvSpPr>
        <p:spPr>
          <a:xfrm>
            <a:off x="1024128" y="427024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6B7A99"/>
                </a:solidFill>
                <a:latin typeface="Courier New"/>
                <a:ea typeface="Courier New"/>
                <a:cs typeface="Courier New"/>
                <a:sym typeface="Courier New"/>
              </a:rPr>
              <a:t>+91 98765 43210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 txBox="1"/>
          <p:nvPr/>
        </p:nvSpPr>
        <p:spPr>
          <a:xfrm>
            <a:off x="3401568" y="427024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***********3210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 txBox="1"/>
          <p:nvPr/>
        </p:nvSpPr>
        <p:spPr>
          <a:xfrm>
            <a:off x="841248" y="4892040"/>
            <a:ext cx="4797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email_masked and phone_masked replace raw values — unmasked data never leaves STAGING.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6278728" y="1783080"/>
            <a:ext cx="5346040" cy="4526280"/>
          </a:xfrm>
          <a:prstGeom prst="roundRect">
            <a:avLst>
              <a:gd fmla="val 1515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6553048" y="2075688"/>
            <a:ext cx="621792" cy="621792"/>
          </a:xfrm>
          <a:prstGeom prst="ellipse">
            <a:avLst/>
          </a:prstGeom>
          <a:solidFill>
            <a:srgbClr val="0B1220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6702278" y="2224918"/>
            <a:ext cx="323332" cy="323332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 txBox="1"/>
          <p:nvPr/>
        </p:nvSpPr>
        <p:spPr>
          <a:xfrm>
            <a:off x="7330288" y="2167128"/>
            <a:ext cx="406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Structured Error Logging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 txBox="1"/>
          <p:nvPr/>
        </p:nvSpPr>
        <p:spPr>
          <a:xfrm>
            <a:off x="6553048" y="2880360"/>
            <a:ext cx="47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rejected row is preserved — never dropped — with its exact reason.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6553048" y="3675888"/>
            <a:ext cx="91440" cy="914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 txBox="1"/>
          <p:nvPr/>
        </p:nvSpPr>
        <p:spPr>
          <a:xfrm>
            <a:off x="6781648" y="35661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CUSTOMERS_ERRORS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6781648" y="385876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phone_type_mismatch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6553048" y="4224528"/>
            <a:ext cx="91440" cy="914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 txBox="1"/>
          <p:nvPr/>
        </p:nvSpPr>
        <p:spPr>
          <a:xfrm>
            <a:off x="6781648" y="41148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ORDERS_ERRORS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 txBox="1"/>
          <p:nvPr/>
        </p:nvSpPr>
        <p:spPr>
          <a:xfrm>
            <a:off x="6781648" y="440740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orphan_customer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6553048" y="4773168"/>
            <a:ext cx="91440" cy="914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 txBox="1"/>
          <p:nvPr/>
        </p:nvSpPr>
        <p:spPr>
          <a:xfrm>
            <a:off x="6781648" y="4663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ORDER_ITEMS_ERRORS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 txBox="1"/>
          <p:nvPr/>
        </p:nvSpPr>
        <p:spPr>
          <a:xfrm>
            <a:off x="6781648" y="495604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negative_quantity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6553048" y="5321808"/>
            <a:ext cx="91440" cy="914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 txBox="1"/>
          <p:nvPr/>
        </p:nvSpPr>
        <p:spPr>
          <a:xfrm>
            <a:off x="6781648" y="5212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PAYMENTS_ERRORS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 txBox="1"/>
          <p:nvPr/>
        </p:nvSpPr>
        <p:spPr>
          <a:xfrm>
            <a:off x="6781648" y="550468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duplicate_payment_id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"/>
          <p:cNvSpPr txBox="1"/>
          <p:nvPr/>
        </p:nvSpPr>
        <p:spPr>
          <a:xfrm>
            <a:off x="566928" y="32537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 txBox="1"/>
          <p:nvPr/>
        </p:nvSpPr>
        <p:spPr>
          <a:xfrm>
            <a:off x="11323015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>
              <a:solidFill>
                <a:srgbClr val="6B7A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 txBox="1"/>
          <p:nvPr/>
        </p:nvSpPr>
        <p:spPr>
          <a:xfrm>
            <a:off x="566928" y="644652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566928" y="32537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PYTHON · DATA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 txBox="1"/>
          <p:nvPr/>
        </p:nvSpPr>
        <p:spPr>
          <a:xfrm>
            <a:off x="566928" y="561823"/>
            <a:ext cx="10515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Python Data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p14" title="python-data-analys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3725" y="1339125"/>
            <a:ext cx="7905750" cy="496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"/>
          <p:cNvSpPr txBox="1"/>
          <p:nvPr/>
        </p:nvSpPr>
        <p:spPr>
          <a:xfrm>
            <a:off x="566928" y="3124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PYTHON · DATA VISUALIZATION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 txBox="1"/>
          <p:nvPr/>
        </p:nvSpPr>
        <p:spPr>
          <a:xfrm>
            <a:off x="566928" y="662673"/>
            <a:ext cx="10515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Python Data Visualization Charts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566928" y="2148840"/>
            <a:ext cx="11057700" cy="4251900"/>
          </a:xfrm>
          <a:prstGeom prst="roundRect">
            <a:avLst>
              <a:gd fmla="val 1613" name="adj"/>
            </a:avLst>
          </a:prstGeom>
          <a:solidFill>
            <a:srgbClr val="FFFFF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"/>
          <p:cNvSpPr txBox="1"/>
          <p:nvPr/>
        </p:nvSpPr>
        <p:spPr>
          <a:xfrm>
            <a:off x="11323015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 txBox="1"/>
          <p:nvPr/>
        </p:nvSpPr>
        <p:spPr>
          <a:xfrm>
            <a:off x="566928" y="644652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" name="Google Shape;331;p15" title="pythoon-data-visualiz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925" y="1439975"/>
            <a:ext cx="11057700" cy="496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ANALYTICS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 txBox="1"/>
          <p:nvPr/>
        </p:nvSpPr>
        <p:spPr>
          <a:xfrm>
            <a:off x="566928" y="84124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Live Dashboard —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Streamlit-in-Snowflake app — filters update every KPI and chart in real time, no separate BI tool required.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566928" y="2148840"/>
            <a:ext cx="11057839" cy="4251960"/>
          </a:xfrm>
          <a:prstGeom prst="roundRect">
            <a:avLst>
              <a:gd fmla="val 1613" name="adj"/>
            </a:avLst>
          </a:prstGeom>
          <a:solidFill>
            <a:srgbClr val="FFFFF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6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925" y="2148850"/>
            <a:ext cx="11057848" cy="425195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7"/>
          <p:cNvSpPr txBox="1"/>
          <p:nvPr/>
        </p:nvSpPr>
        <p:spPr>
          <a:xfrm>
            <a:off x="566928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ANALYTICS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 txBox="1"/>
          <p:nvPr/>
        </p:nvSpPr>
        <p:spPr>
          <a:xfrm>
            <a:off x="566928" y="841248"/>
            <a:ext cx="10515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Dashboard — All Five Chart Types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 txBox="1"/>
          <p:nvPr/>
        </p:nvSpPr>
        <p:spPr>
          <a:xfrm>
            <a:off x="566928" y="1572768"/>
            <a:ext cx="1105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Line, bar, histogram, donut, and horizontal bar — each with live hover tooltips, rendered natively via Altair.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566928" y="2148840"/>
            <a:ext cx="11057700" cy="4251900"/>
          </a:xfrm>
          <a:prstGeom prst="roundRect">
            <a:avLst>
              <a:gd fmla="val 1613" name="adj"/>
            </a:avLst>
          </a:prstGeom>
          <a:solidFill>
            <a:srgbClr val="FFFFF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7"/>
          <p:cNvSpPr txBox="1"/>
          <p:nvPr/>
        </p:nvSpPr>
        <p:spPr>
          <a:xfrm>
            <a:off x="11323015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 txBox="1"/>
          <p:nvPr/>
        </p:nvSpPr>
        <p:spPr>
          <a:xfrm>
            <a:off x="566928" y="644652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5" y="2148850"/>
            <a:ext cx="11057848" cy="42519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8"/>
          <p:cNvSpPr txBox="1"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 txBox="1"/>
          <p:nvPr/>
        </p:nvSpPr>
        <p:spPr>
          <a:xfrm>
            <a:off x="566928" y="84124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Query Optimization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566928" y="1783080"/>
            <a:ext cx="4709160" cy="4526280"/>
          </a:xfrm>
          <a:prstGeom prst="roundRect">
            <a:avLst>
              <a:gd fmla="val 1515" name="adj"/>
            </a:avLst>
          </a:prstGeom>
          <a:solidFill>
            <a:srgbClr val="121C33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"/>
          <p:cNvSpPr txBox="1"/>
          <p:nvPr/>
        </p:nvSpPr>
        <p:spPr>
          <a:xfrm>
            <a:off x="841248" y="2057400"/>
            <a:ext cx="4160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DW.FACT_SALES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CLUSTER BY (date_sk);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 txBox="1"/>
          <p:nvPr/>
        </p:nvSpPr>
        <p:spPr>
          <a:xfrm>
            <a:off x="841248" y="2971800"/>
            <a:ext cx="4160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Most analytical queries filter or group by date — clustering lets Snowflake's micro-partition pruning skip irrelevant blocks instead of scanning the full table.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 txBox="1"/>
          <p:nvPr/>
        </p:nvSpPr>
        <p:spPr>
          <a:xfrm>
            <a:off x="841248" y="41148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1.2s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 txBox="1"/>
          <p:nvPr/>
        </p:nvSpPr>
        <p:spPr>
          <a:xfrm>
            <a:off x="841248" y="454456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EXECUTION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 txBox="1"/>
          <p:nvPr/>
        </p:nvSpPr>
        <p:spPr>
          <a:xfrm>
            <a:off x="2944368" y="41148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16.88 MB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 txBox="1"/>
          <p:nvPr/>
        </p:nvSpPr>
        <p:spPr>
          <a:xfrm>
            <a:off x="2944368" y="454456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BYTES SCANNED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 txBox="1"/>
          <p:nvPr/>
        </p:nvSpPr>
        <p:spPr>
          <a:xfrm>
            <a:off x="841248" y="51663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 txBox="1"/>
          <p:nvPr/>
        </p:nvSpPr>
        <p:spPr>
          <a:xfrm>
            <a:off x="841248" y="55961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PARTITIONS SCANNED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 txBox="1"/>
          <p:nvPr/>
        </p:nvSpPr>
        <p:spPr>
          <a:xfrm>
            <a:off x="2944368" y="51663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 txBox="1"/>
          <p:nvPr/>
        </p:nvSpPr>
        <p:spPr>
          <a:xfrm>
            <a:off x="2944368" y="55961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INSIGHTS FLAGGED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5596128" y="1783080"/>
            <a:ext cx="6028639" cy="4526280"/>
          </a:xfrm>
          <a:prstGeom prst="roundRect">
            <a:avLst>
              <a:gd fmla="val 1515" name="adj"/>
            </a:avLst>
          </a:prstGeom>
          <a:solidFill>
            <a:srgbClr val="FFFFFF"/>
          </a:solidFill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8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6125" y="1783075"/>
            <a:ext cx="6028649" cy="452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9"/>
          <p:cNvSpPr txBox="1"/>
          <p:nvPr/>
        </p:nvSpPr>
        <p:spPr>
          <a:xfrm>
            <a:off x="566928" y="54864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USE CASES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 txBox="1"/>
          <p:nvPr/>
        </p:nvSpPr>
        <p:spPr>
          <a:xfrm>
            <a:off x="566928" y="914400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Real-World Use Cases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594416" y="193852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"/>
          <p:cNvSpPr/>
          <p:nvPr/>
        </p:nvSpPr>
        <p:spPr>
          <a:xfrm>
            <a:off x="658224" y="2011465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9"/>
          <p:cNvSpPr txBox="1"/>
          <p:nvPr/>
        </p:nvSpPr>
        <p:spPr>
          <a:xfrm>
            <a:off x="1005840" y="193852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Retail &amp; e-commerce firms reuse this Star Schema to unify sales, customer, and product data for revenue reporting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6214776" y="193852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9"/>
          <p:cNvSpPr/>
          <p:nvPr/>
        </p:nvSpPr>
        <p:spPr>
          <a:xfrm>
            <a:off x="6297072" y="201167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9"/>
          <p:cNvSpPr txBox="1"/>
          <p:nvPr/>
        </p:nvSpPr>
        <p:spPr>
          <a:xfrm>
            <a:off x="6626200" y="193852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Marketing teams use SCD Type 2 customer history for segmentation, loyalty programs, and churn analysis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594416" y="303580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"/>
          <p:cNvSpPr/>
          <p:nvPr/>
        </p:nvSpPr>
        <p:spPr>
          <a:xfrm>
            <a:off x="676712" y="310895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9"/>
          <p:cNvSpPr txBox="1"/>
          <p:nvPr/>
        </p:nvSpPr>
        <p:spPr>
          <a:xfrm>
            <a:off x="1005840" y="303580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Finance &amp; compliance teams rely on PII masking and error logs to meet GDPR / DPDP data-privacy regulations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6214776" y="303580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9"/>
          <p:cNvSpPr/>
          <p:nvPr/>
        </p:nvSpPr>
        <p:spPr>
          <a:xfrm>
            <a:off x="6287872" y="3108895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9"/>
          <p:cNvSpPr txBox="1"/>
          <p:nvPr/>
        </p:nvSpPr>
        <p:spPr>
          <a:xfrm>
            <a:off x="6626200" y="303580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Business analysts use the Streamlit-in-Snowflake dashboard as self-serve BI, replacing manual Excel reporting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9"/>
          <p:cNvSpPr/>
          <p:nvPr/>
        </p:nvSpPr>
        <p:spPr>
          <a:xfrm>
            <a:off x="594416" y="413308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9"/>
          <p:cNvSpPr/>
          <p:nvPr/>
        </p:nvSpPr>
        <p:spPr>
          <a:xfrm>
            <a:off x="676712" y="420623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9"/>
          <p:cNvSpPr txBox="1"/>
          <p:nvPr/>
        </p:nvSpPr>
        <p:spPr>
          <a:xfrm>
            <a:off x="1005840" y="413308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Data engineering teams reuse the full + incremental ETL pattern to onboard new source systems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6214776" y="413308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9"/>
          <p:cNvSpPr/>
          <p:nvPr/>
        </p:nvSpPr>
        <p:spPr>
          <a:xfrm>
            <a:off x="6287872" y="420603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9"/>
          <p:cNvSpPr txBox="1"/>
          <p:nvPr/>
        </p:nvSpPr>
        <p:spPr>
          <a:xfrm>
            <a:off x="6626200" y="413308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Performance teams apply the same clustering &amp; query-profiling approach to control warehouse costs at scale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3" name="Google Shape;403;p19"/>
          <p:cNvCxnSpPr/>
          <p:nvPr/>
        </p:nvCxnSpPr>
        <p:spPr>
          <a:xfrm>
            <a:off x="566928" y="5715000"/>
            <a:ext cx="11057700" cy="0"/>
          </a:xfrm>
          <a:prstGeom prst="straightConnector1">
            <a:avLst/>
          </a:prstGeom>
          <a:noFill/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19"/>
          <p:cNvSpPr txBox="1"/>
          <p:nvPr/>
        </p:nvSpPr>
        <p:spPr>
          <a:xfrm>
            <a:off x="566928" y="5870448"/>
            <a:ext cx="1105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same pattern used here — star schema, SCD2, masking, watermark ETL — is exactly what production retail data platforms run today.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 txBox="1"/>
          <p:nvPr/>
        </p:nvSpPr>
        <p:spPr>
          <a:xfrm>
            <a:off x="11323015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9"/>
          <p:cNvSpPr txBox="1"/>
          <p:nvPr/>
        </p:nvSpPr>
        <p:spPr>
          <a:xfrm>
            <a:off x="566928" y="644652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0"/>
          <p:cNvSpPr txBox="1"/>
          <p:nvPr/>
        </p:nvSpPr>
        <p:spPr>
          <a:xfrm>
            <a:off x="566928" y="54864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ADVANTAGES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 txBox="1"/>
          <p:nvPr/>
        </p:nvSpPr>
        <p:spPr>
          <a:xfrm>
            <a:off x="566928" y="914400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Why This Approach Wins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/>
          <p:nvPr/>
        </p:nvSpPr>
        <p:spPr>
          <a:xfrm>
            <a:off x="594416" y="193852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658224" y="2011465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0"/>
          <p:cNvSpPr txBox="1"/>
          <p:nvPr/>
        </p:nvSpPr>
        <p:spPr>
          <a:xfrm>
            <a:off x="1005840" y="193852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Single source of truth — eliminates conflicting numbers from fragmented spreadsheets and siloed systems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6214776" y="193852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6297072" y="201167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0"/>
          <p:cNvSpPr txBox="1"/>
          <p:nvPr/>
        </p:nvSpPr>
        <p:spPr>
          <a:xfrm>
            <a:off x="6626200" y="193852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Trustworthy by design — every cleaning rule is validated against ground truth, not just assumed correct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0"/>
          <p:cNvSpPr/>
          <p:nvPr/>
        </p:nvSpPr>
        <p:spPr>
          <a:xfrm>
            <a:off x="594416" y="303580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676712" y="310895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0"/>
          <p:cNvSpPr txBox="1"/>
          <p:nvPr/>
        </p:nvSpPr>
        <p:spPr>
          <a:xfrm>
            <a:off x="1005840" y="303580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Full historical accuracy — SCD2 means no customer trend or attribution is ever lost to an overwrite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/>
          <p:nvPr/>
        </p:nvSpPr>
        <p:spPr>
          <a:xfrm>
            <a:off x="6214776" y="303580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0"/>
          <p:cNvSpPr/>
          <p:nvPr/>
        </p:nvSpPr>
        <p:spPr>
          <a:xfrm>
            <a:off x="6287872" y="3108895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0"/>
          <p:cNvSpPr txBox="1"/>
          <p:nvPr/>
        </p:nvSpPr>
        <p:spPr>
          <a:xfrm>
            <a:off x="6626200" y="303580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Built-in governance — PII masking and per-row error logs make the pipeline audit-ready from day one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0"/>
          <p:cNvSpPr/>
          <p:nvPr/>
        </p:nvSpPr>
        <p:spPr>
          <a:xfrm>
            <a:off x="594416" y="413308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0"/>
          <p:cNvSpPr/>
          <p:nvPr/>
        </p:nvSpPr>
        <p:spPr>
          <a:xfrm>
            <a:off x="676712" y="420623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0"/>
          <p:cNvSpPr txBox="1"/>
          <p:nvPr/>
        </p:nvSpPr>
        <p:spPr>
          <a:xfrm>
            <a:off x="1005840" y="413308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Faster decisions — live, filterable dashboards replace static reports with real-time answers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0"/>
          <p:cNvSpPr/>
          <p:nvPr/>
        </p:nvSpPr>
        <p:spPr>
          <a:xfrm>
            <a:off x="6214776" y="413308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0"/>
          <p:cNvSpPr/>
          <p:nvPr/>
        </p:nvSpPr>
        <p:spPr>
          <a:xfrm>
            <a:off x="6287872" y="420603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0"/>
          <p:cNvSpPr txBox="1"/>
          <p:nvPr/>
        </p:nvSpPr>
        <p:spPr>
          <a:xfrm>
            <a:off x="6626200" y="4133088"/>
            <a:ext cx="50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Cloud-scale &amp; cost-efficient — clustering and query profiling cut scan time and compute spend as data grows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" name="Google Shape;432;p20"/>
          <p:cNvCxnSpPr/>
          <p:nvPr/>
        </p:nvCxnSpPr>
        <p:spPr>
          <a:xfrm>
            <a:off x="566928" y="5715000"/>
            <a:ext cx="11057700" cy="0"/>
          </a:xfrm>
          <a:prstGeom prst="straightConnector1">
            <a:avLst/>
          </a:prstGeom>
          <a:noFill/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p20"/>
          <p:cNvSpPr txBox="1"/>
          <p:nvPr/>
        </p:nvSpPr>
        <p:spPr>
          <a:xfrm>
            <a:off x="566928" y="5870448"/>
            <a:ext cx="1105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Together, these advantages turn a one-time capstone pipeline into a template for real production data platforms.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0"/>
          <p:cNvSpPr txBox="1"/>
          <p:nvPr/>
        </p:nvSpPr>
        <p:spPr>
          <a:xfrm>
            <a:off x="11323015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0"/>
          <p:cNvSpPr txBox="1"/>
          <p:nvPr/>
        </p:nvSpPr>
        <p:spPr>
          <a:xfrm>
            <a:off x="566928" y="644652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 txBox="1"/>
          <p:nvPr/>
        </p:nvSpPr>
        <p:spPr>
          <a:xfrm>
            <a:off x="566928" y="5486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1"/>
          <p:cNvSpPr txBox="1"/>
          <p:nvPr/>
        </p:nvSpPr>
        <p:spPr>
          <a:xfrm>
            <a:off x="566928" y="914400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Production-Realistic Warehouse, Fully Validated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1"/>
          <p:cNvSpPr/>
          <p:nvPr/>
        </p:nvSpPr>
        <p:spPr>
          <a:xfrm>
            <a:off x="594416" y="193852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1"/>
          <p:cNvSpPr/>
          <p:nvPr/>
        </p:nvSpPr>
        <p:spPr>
          <a:xfrm>
            <a:off x="658224" y="2011465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1"/>
          <p:cNvSpPr txBox="1"/>
          <p:nvPr/>
        </p:nvSpPr>
        <p:spPr>
          <a:xfrm>
            <a:off x="1005840" y="1938528"/>
            <a:ext cx="507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Star Schema with 4 dimensions + FACT_SALES, SCD Type 2 on DIM_CUSTOMER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1"/>
          <p:cNvSpPr/>
          <p:nvPr/>
        </p:nvSpPr>
        <p:spPr>
          <a:xfrm>
            <a:off x="6214776" y="193852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1"/>
          <p:cNvSpPr/>
          <p:nvPr/>
        </p:nvSpPr>
        <p:spPr>
          <a:xfrm>
            <a:off x="6297072" y="201167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1"/>
          <p:cNvSpPr txBox="1"/>
          <p:nvPr/>
        </p:nvSpPr>
        <p:spPr>
          <a:xfrm>
            <a:off x="6626200" y="1938528"/>
            <a:ext cx="507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Full and Incremental ETL, both demonstrated with live watermark tracking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594416" y="303580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1"/>
          <p:cNvSpPr/>
          <p:nvPr/>
        </p:nvSpPr>
        <p:spPr>
          <a:xfrm>
            <a:off x="676712" y="310895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1"/>
          <p:cNvSpPr txBox="1"/>
          <p:nvPr/>
        </p:nvSpPr>
        <p:spPr>
          <a:xfrm>
            <a:off x="1005840" y="3035808"/>
            <a:ext cx="507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PII masking and structured, per-row error logging across every source table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6214776" y="303580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1"/>
          <p:cNvSpPr/>
          <p:nvPr/>
        </p:nvSpPr>
        <p:spPr>
          <a:xfrm>
            <a:off x="6287872" y="3108895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1"/>
          <p:cNvSpPr txBox="1"/>
          <p:nvPr/>
        </p:nvSpPr>
        <p:spPr>
          <a:xfrm>
            <a:off x="6626200" y="3035808"/>
            <a:ext cx="507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Data-quality detection validated against ground truth, not just assumed correct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1"/>
          <p:cNvSpPr/>
          <p:nvPr/>
        </p:nvSpPr>
        <p:spPr>
          <a:xfrm>
            <a:off x="594416" y="413308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1"/>
          <p:cNvSpPr/>
          <p:nvPr/>
        </p:nvSpPr>
        <p:spPr>
          <a:xfrm>
            <a:off x="676712" y="420623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1"/>
          <p:cNvSpPr txBox="1"/>
          <p:nvPr/>
        </p:nvSpPr>
        <p:spPr>
          <a:xfrm>
            <a:off x="1005840" y="4133088"/>
            <a:ext cx="507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5 required chart types delivered as an interactive Streamlit-in-Snowflake dashboard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1"/>
          <p:cNvSpPr/>
          <p:nvPr/>
        </p:nvSpPr>
        <p:spPr>
          <a:xfrm>
            <a:off x="6214776" y="4133085"/>
            <a:ext cx="274200" cy="274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1"/>
          <p:cNvSpPr/>
          <p:nvPr/>
        </p:nvSpPr>
        <p:spPr>
          <a:xfrm>
            <a:off x="6287872" y="4206037"/>
            <a:ext cx="128100" cy="128100"/>
          </a:xfrm>
          <a:prstGeom prst="chevron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1"/>
          <p:cNvSpPr txBox="1"/>
          <p:nvPr/>
        </p:nvSpPr>
        <p:spPr>
          <a:xfrm>
            <a:off x="6626200" y="4133088"/>
            <a:ext cx="507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C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ECF6"/>
                </a:solidFill>
                <a:latin typeface="Calibri"/>
                <a:ea typeface="Calibri"/>
                <a:cs typeface="Calibri"/>
                <a:sym typeface="Calibri"/>
              </a:rPr>
              <a:t>Query optimization applied and measured via native Snowflake Query Profile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1" name="Google Shape;461;p21"/>
          <p:cNvCxnSpPr/>
          <p:nvPr/>
        </p:nvCxnSpPr>
        <p:spPr>
          <a:xfrm>
            <a:off x="566928" y="5715000"/>
            <a:ext cx="11057839" cy="0"/>
          </a:xfrm>
          <a:prstGeom prst="straightConnector1">
            <a:avLst/>
          </a:prstGeom>
          <a:noFill/>
          <a:ln cap="flat" cmpd="sng" w="12700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2" name="Google Shape;462;p21"/>
          <p:cNvSpPr txBox="1"/>
          <p:nvPr/>
        </p:nvSpPr>
        <p:spPr>
          <a:xfrm>
            <a:off x="566928" y="5870448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This pipeline generalizes directly to production: swap the CSV source for Snowpipe, and the STAGING → DW contract stays unchanged.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1"/>
          <p:cNvSpPr txBox="1"/>
          <p:nvPr/>
        </p:nvSpPr>
        <p:spPr>
          <a:xfrm>
            <a:off x="113230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1"/>
          <p:cNvSpPr txBox="1"/>
          <p:nvPr/>
        </p:nvSpPr>
        <p:spPr>
          <a:xfrm>
            <a:off x="566928" y="6446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RETAIL_CAPSTONE  ·  SNOWFLAKE  ·  TEAM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2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12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2"/>
          <p:cNvSpPr/>
          <p:nvPr/>
        </p:nvSpPr>
        <p:spPr>
          <a:xfrm>
            <a:off x="-914400" y="-1371600"/>
            <a:ext cx="4114800" cy="4114800"/>
          </a:xfrm>
          <a:prstGeom prst="ellipse">
            <a:avLst/>
          </a:prstGeom>
          <a:solidFill>
            <a:srgbClr val="1E2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2"/>
          <p:cNvSpPr txBox="1"/>
          <p:nvPr/>
        </p:nvSpPr>
        <p:spPr>
          <a:xfrm>
            <a:off x="566928" y="265176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>
            <a:off x="566928" y="3520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Global Retail E-Commerce — Data Warehouse &amp; Analytics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22"/>
          <p:cNvCxnSpPr/>
          <p:nvPr/>
        </p:nvCxnSpPr>
        <p:spPr>
          <a:xfrm>
            <a:off x="566928" y="4160520"/>
            <a:ext cx="3657600" cy="0"/>
          </a:xfrm>
          <a:prstGeom prst="straightConnector1">
            <a:avLst/>
          </a:prstGeom>
          <a:noFill/>
          <a:ln cap="flat" cmpd="sng" w="15875">
            <a:solidFill>
              <a:srgbClr val="2633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5" name="Google Shape;475;p22"/>
          <p:cNvSpPr txBox="1"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TEAM 7  ·  DA PROJECT  ·  BUILT ON SNOWFLAKE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